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back after the security lead's talk. Today we're going to put some of what they said into practice by doing the opposite of what you'd expect: instead of building something securely, we're going to try to make something as insecure as we possibly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The goal today is the opposite of normal: the worse your ideas, the better. Nobody needs to know any technical terms, everyday language is perfect. Give an icebreaker example: "The admin password is pizza and it's written on a sticky note on the 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 you'll be breaking. It's deliberately simple so you can picture every part of it without knowing how it's built. Each table also has a printed copy of this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really simple software development lifecycle. Code is only one part of it, and attackers don't care which stage they get in through. Plan and design: if nobody thinks about misuse, the hole is built in before a line of code. Build: we rely on lots of code other people wrote. Test: we tend to only test the happy path. Release: default passwords and unchecked updates. Run: if nobody's watching, an attack can go on for weeks. And people are part of every stage. When you make Crust Club worse, think about every stage, not just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apps are mostly assembled, not written from scratch. Teams pull in packages for things like logins, payments and building web pages, and those packages pull in their own packages too. Then a chain of tools stores, builds and deploys the code, often automatically. That's brilliant for speed, but each package and each tool is something we're trusting. If a package has a hole, or someone sneaks bad code into one, or a build tool gets taken over, the attacker never needs to touch our code at all. This links to two OWASP cards: A03 Software Supply Chain Failures, and A08 Software or Data Integrity Failures. Ask the security lead if they have a real example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1-2-4-All format as yesterday, so it should feel familiar. Keep the timer visible. If a table gets stuck, give them a prompt: What could a customer see that they shouldn't? How could someone get into the admin page? What could go wrong with all that free code? What might the error messages give away? Would anyone notice if something bad happened? Accept ideas in everyday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real names arrive. Tables lay out the OWASP cards and put each sticky note on the card it best fits. The point isn't to memorise the list; it's to see that the Top 10 is just labels for the kinds of mistakes they came up with on their own. After sorting, ask which card has the most notes, and which has none. Empty cards are a chance for the security lead to share a quick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TRIZ twist. Model the honesty first: share a real, safe-to-share mistake, and ask the security lead to do the same. Saying "I could do that" out loud is exactly the behaviour from yesterday's psychological safety session. Step 4: each table writes the opposite of their three dotted notes as a simple rule and sticks them on the flipchart. The security lead picks one or two to comment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round the room and ask everyone for one thing they'll now look out for. Let them know they'll see these OWASP categories again as their skills grow, and that the rules on the flipchart will be photographed and shared, and can be added to yesterday's working agreement if the group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2050"/>
            <a:ext cx="10566400" cy="1003300"/>
          </a:xfrm>
          <a:prstGeom prst="rect">
            <a:avLst/>
          </a:prstGeom>
          <a:noFill/>
          <a:ln/>
        </p:spPr>
        <p:txBody>
          <a:bodyPr wrap="square" lIns="0" tIns="0" rIns="0" bIns="0" rtlCol="0" anchor="t"/>
          <a:lstStyle>
            <a:lvl1pPr algn="l" indent="0" marL="0">
              <a:lnSpc>
                <a:spcPct val="115000"/>
              </a:lnSpc>
              <a:buNone/>
              <a:defRPr lang="en-US" sz="3600" dirty="0">
                <a:solidFill>
                  <a:srgbClr val="1B1F24"/>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70150"/>
            <a:ext cx="10566400" cy="3575050"/>
          </a:xfrm>
          <a:prstGeom prst="rect">
            <a:avLst/>
          </a:prstGeom>
          <a:noFill/>
          <a:ln/>
        </p:spPr>
        <p:txBody>
          <a:bodyPr wrap="square" lIns="0" tIns="0" rIns="0" bIns="0" rtlCol="0" anchor="t"/>
          <a:lstStyle>
            <a:lvl1pPr algn="l" indent="0" marL="0">
              <a:lnSpc>
                <a:spcPct val="140000"/>
              </a:lnSpc>
              <a:buNone/>
              <a:defRPr lang="en-US" sz="1600" dirty="0">
                <a:solidFill>
                  <a:srgbClr val="1B1F24"/>
                </a:solidFill>
                <a:latin typeface="Atkinson Hyperlegible" pitchFamily="34" charset="0"/>
                <a:ea typeface="Atkinson Hyperlegible" pitchFamily="34" charset="-122"/>
                <a:cs typeface="Atkinson Hyperlegibl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2050"/>
            <a:ext cx="10566400" cy="1003300"/>
          </a:xfrm>
          <a:prstGeom prst="rect">
            <a:avLst/>
          </a:prstGeom>
          <a:noFill/>
          <a:ln/>
        </p:spPr>
        <p:txBody>
          <a:bodyPr wrap="square" lIns="0" tIns="0" rIns="0" bIns="0" rtlCol="0" anchor="t"/>
          <a:lstStyle>
            <a:lvl1pPr algn="l" indent="0" marL="0">
              <a:lnSpc>
                <a:spcPct val="115000"/>
              </a:lnSpc>
              <a:buNone/>
              <a:defRPr lang="en-US" sz="3600" dirty="0">
                <a:solidFill>
                  <a:srgbClr val="1B1F24"/>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70150"/>
            <a:ext cx="10566400" cy="3575050"/>
          </a:xfrm>
          <a:prstGeom prst="rect">
            <a:avLst/>
          </a:prstGeom>
          <a:noFill/>
          <a:ln/>
        </p:spPr>
        <p:txBody>
          <a:bodyPr wrap="square" lIns="0" tIns="0" rIns="0" bIns="0" rtlCol="0" anchor="t"/>
          <a:lstStyle>
            <a:lvl1pPr algn="l" indent="0" marL="0">
              <a:lnSpc>
                <a:spcPct val="140000"/>
              </a:lnSpc>
              <a:buNone/>
              <a:defRPr lang="en-US" sz="1600" dirty="0">
                <a:solidFill>
                  <a:srgbClr val="1B1F24"/>
                </a:solidFill>
                <a:latin typeface="Atkinson Hyperlegible" pitchFamily="34" charset="0"/>
                <a:ea typeface="Atkinson Hyperlegible" pitchFamily="34" charset="-122"/>
                <a:cs typeface="Atkinson Hyperlegibl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owasp.org/Top10/2025/" TargetMode="Externa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Text 0"/>
          <p:cNvSpPr/>
          <p:nvPr/>
        </p:nvSpPr>
        <p:spPr>
          <a:xfrm>
            <a:off x="812800" y="1838325"/>
            <a:ext cx="10883392" cy="30480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5B82E"/>
                </a:solidFill>
                <a:latin typeface="Atkinson Hyperlegible" pitchFamily="34" charset="0"/>
                <a:ea typeface="Atkinson Hyperlegible" pitchFamily="34" charset="-122"/>
                <a:cs typeface="Atkinson Hyperlegible" pitchFamily="34" charset="-120"/>
              </a:rPr>
              <a:t>SECURITY SESSION</a:t>
            </a:r>
            <a:endParaRPr lang="en-US" sz="1600" dirty="0"/>
          </a:p>
        </p:txBody>
      </p:sp>
      <p:sp>
        <p:nvSpPr>
          <p:cNvPr id="3" name="Text 1"/>
          <p:cNvSpPr/>
          <p:nvPr>
            <p:ph type="title"/>
          </p:nvPr>
        </p:nvSpPr>
        <p:spPr>
          <a:xfrm>
            <a:off x="812800" y="2371725"/>
            <a:ext cx="10883392" cy="2057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3EFE6"/>
                </a:solidFill>
                <a:latin typeface="Bricolage Grotesque" pitchFamily="34" charset="0"/>
                <a:ea typeface="Bricolage Grotesque" pitchFamily="34" charset="-122"/>
                <a:cs typeface="Bricolage Grotesque" pitchFamily="34" charset="-120"/>
              </a:rPr>
              <a:t>Break It</a:t>
            </a:r>
            <a:endParaRPr lang="en-US" sz="8000" dirty="0"/>
          </a:p>
          <a:p>
            <a:pPr algn="l" indent="0" marL="0">
              <a:lnSpc>
                <a:spcPts val="8000"/>
              </a:lnSpc>
              <a:buNone/>
            </a:pPr>
            <a:r>
              <a:rPr lang="en-US" sz="8000" b="1" i="0" dirty="0">
                <a:solidFill>
                  <a:srgbClr val="F3EFE6"/>
                </a:solidFill>
                <a:latin typeface="Bricolage Grotesque" pitchFamily="34" charset="0"/>
                <a:ea typeface="Bricolage Grotesque" pitchFamily="34" charset="-122"/>
                <a:cs typeface="Bricolage Grotesque" pitchFamily="34" charset="-120"/>
              </a:rPr>
              <a:t>to Make It</a:t>
            </a:r>
            <a:endParaRPr lang="en-US" sz="8000" dirty="0"/>
          </a:p>
        </p:txBody>
      </p:sp>
      <p:sp>
        <p:nvSpPr>
          <p:cNvPr id="4" name="Text 2"/>
          <p:cNvSpPr/>
          <p:nvPr/>
        </p:nvSpPr>
        <p:spPr>
          <a:xfrm>
            <a:off x="812800" y="4657725"/>
            <a:ext cx="9144000" cy="38735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9D4C9"/>
                </a:solidFill>
                <a:latin typeface="Atkinson Hyperlegible" pitchFamily="34" charset="0"/>
                <a:ea typeface="Atkinson Hyperlegible" pitchFamily="34" charset="-122"/>
                <a:cs typeface="Atkinson Hyperlegible" pitchFamily="34" charset="-120"/>
              </a:rPr>
              <a:t>Making a pizza website as insecure as possible, on purpose.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TODAY'S RULES</a:t>
            </a:r>
            <a:endParaRPr lang="en-US" sz="1400" dirty="0"/>
          </a:p>
        </p:txBody>
      </p:sp>
      <p:sp>
        <p:nvSpPr>
          <p:cNvPr id="3" name="Text 1"/>
          <p:cNvSpPr/>
          <p:nvPr>
            <p:ph type="title"/>
          </p:nvPr>
        </p:nvSpPr>
        <p:spPr>
          <a:xfrm>
            <a:off x="812800" y="1212850"/>
            <a:ext cx="10883392" cy="129540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1F24"/>
                </a:solidFill>
                <a:latin typeface="Bricolage Grotesque" pitchFamily="34" charset="0"/>
                <a:ea typeface="Bricolage Grotesque" pitchFamily="34" charset="-122"/>
                <a:cs typeface="Bricolage Grotesque" pitchFamily="34" charset="-120"/>
              </a:rPr>
              <a:t>The worse the idea,</a:t>
            </a:r>
            <a:endParaRPr lang="en-US" sz="4800" dirty="0"/>
          </a:p>
          <a:p>
            <a:pPr algn="l" indent="0" marL="0">
              <a:lnSpc>
                <a:spcPts val="5040"/>
              </a:lnSpc>
              <a:buNone/>
            </a:pPr>
            <a:r>
              <a:rPr lang="en-US" sz="4800" b="1" i="0" dirty="0">
                <a:solidFill>
                  <a:srgbClr val="1B1F24"/>
                </a:solidFill>
                <a:latin typeface="Bricolage Grotesque" pitchFamily="34" charset="0"/>
                <a:ea typeface="Bricolage Grotesque" pitchFamily="34" charset="-122"/>
                <a:cs typeface="Bricolage Grotesque" pitchFamily="34" charset="-120"/>
              </a:rPr>
              <a:t>the better</a:t>
            </a:r>
            <a:endParaRPr lang="en-US" sz="4800" dirty="0"/>
          </a:p>
        </p:txBody>
      </p:sp>
      <p:sp>
        <p:nvSpPr>
          <p:cNvPr id="4" name="Shape 2"/>
          <p:cNvSpPr/>
          <p:nvPr/>
        </p:nvSpPr>
        <p:spPr>
          <a:xfrm>
            <a:off x="812800" y="3822700"/>
            <a:ext cx="3386634" cy="2222500"/>
          </a:xfrm>
          <a:prstGeom prst="roundRect">
            <a:avLst>
              <a:gd name="adj" fmla="val 5714"/>
            </a:avLst>
          </a:prstGeom>
          <a:solidFill>
            <a:srgbClr val="F3EFE6"/>
          </a:solidFill>
          <a:ln/>
        </p:spPr>
      </p:sp>
      <p:pic>
        <p:nvPicPr>
          <p:cNvPr id="5" name="Image 0" descr="Lightbulb">    </p:cNvPr>
          <p:cNvPicPr>
            <a:picLocks noChangeAspect="1"/>
          </p:cNvPicPr>
          <p:nvPr/>
        </p:nvPicPr>
        <p:blipFill>
          <a:blip r:embed="rId1"/>
          <a:srcRect l="0" r="0" t="0" b="0"/>
          <a:stretch/>
        </p:blipFill>
        <p:spPr>
          <a:xfrm>
            <a:off x="1066800" y="4076700"/>
            <a:ext cx="355600" cy="355600"/>
          </a:xfrm>
          <a:prstGeom prst="rect">
            <a:avLst/>
          </a:prstGeom>
        </p:spPr>
      </p:pic>
      <p:sp>
        <p:nvSpPr>
          <p:cNvPr id="6" name="Text 3"/>
          <p:cNvSpPr/>
          <p:nvPr/>
        </p:nvSpPr>
        <p:spPr>
          <a:xfrm>
            <a:off x="1066800" y="45593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4"/>
                </a:solidFill>
                <a:latin typeface="Bricolage Grotesque" pitchFamily="34" charset="0"/>
                <a:ea typeface="Bricolage Grotesque" pitchFamily="34" charset="-122"/>
                <a:cs typeface="Bricolage Grotesque" pitchFamily="34" charset="-120"/>
              </a:rPr>
              <a:t>Be terrible</a:t>
            </a:r>
            <a:endParaRPr lang="en-US" sz="2000" dirty="0"/>
          </a:p>
        </p:txBody>
      </p:sp>
      <p:sp>
        <p:nvSpPr>
          <p:cNvPr id="7" name="Text 4"/>
          <p:cNvSpPr/>
          <p:nvPr/>
        </p:nvSpPr>
        <p:spPr>
          <a:xfrm>
            <a:off x="1066800" y="4991100"/>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148"/>
                </a:solidFill>
                <a:latin typeface="Atkinson Hyperlegible" pitchFamily="34" charset="0"/>
                <a:ea typeface="Atkinson Hyperlegible" pitchFamily="34" charset="-122"/>
                <a:cs typeface="Atkinson Hyperlegible" pitchFamily="34" charset="-120"/>
              </a:rPr>
              <a:t>We're trying to break things, not build them properly.</a:t>
            </a:r>
            <a:endParaRPr lang="en-US" sz="1500" dirty="0"/>
          </a:p>
        </p:txBody>
      </p:sp>
      <p:sp>
        <p:nvSpPr>
          <p:cNvPr id="8" name="Shape 5"/>
          <p:cNvSpPr/>
          <p:nvPr/>
        </p:nvSpPr>
        <p:spPr>
          <a:xfrm>
            <a:off x="4402634" y="3822700"/>
            <a:ext cx="3386634" cy="2222500"/>
          </a:xfrm>
          <a:prstGeom prst="roundRect">
            <a:avLst>
              <a:gd name="adj" fmla="val 5714"/>
            </a:avLst>
          </a:prstGeom>
          <a:solidFill>
            <a:srgbClr val="F3EFE6"/>
          </a:solidFill>
          <a:ln/>
        </p:spPr>
      </p:sp>
      <p:pic>
        <p:nvPicPr>
          <p:cNvPr id="9" name="Image 1" descr="Chat">    </p:cNvPr>
          <p:cNvPicPr>
            <a:picLocks noChangeAspect="1"/>
          </p:cNvPicPr>
          <p:nvPr/>
        </p:nvPicPr>
        <p:blipFill>
          <a:blip r:embed="rId2"/>
          <a:srcRect l="0" r="0" t="0" b="0"/>
          <a:stretch/>
        </p:blipFill>
        <p:spPr>
          <a:xfrm>
            <a:off x="4656634" y="4076700"/>
            <a:ext cx="355600" cy="355600"/>
          </a:xfrm>
          <a:prstGeom prst="rect">
            <a:avLst/>
          </a:prstGeom>
        </p:spPr>
      </p:pic>
      <p:sp>
        <p:nvSpPr>
          <p:cNvPr id="10" name="Text 6"/>
          <p:cNvSpPr/>
          <p:nvPr/>
        </p:nvSpPr>
        <p:spPr>
          <a:xfrm>
            <a:off x="4656634" y="45593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4"/>
                </a:solidFill>
                <a:latin typeface="Bricolage Grotesque" pitchFamily="34" charset="0"/>
                <a:ea typeface="Bricolage Grotesque" pitchFamily="34" charset="-122"/>
                <a:cs typeface="Bricolage Grotesque" pitchFamily="34" charset="-120"/>
              </a:rPr>
              <a:t>Use everyday words</a:t>
            </a:r>
            <a:endParaRPr lang="en-US" sz="2000" dirty="0"/>
          </a:p>
        </p:txBody>
      </p:sp>
      <p:sp>
        <p:nvSpPr>
          <p:cNvPr id="11" name="Text 7"/>
          <p:cNvSpPr/>
          <p:nvPr/>
        </p:nvSpPr>
        <p:spPr>
          <a:xfrm>
            <a:off x="4656634" y="4991100"/>
            <a:ext cx="296499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148"/>
                </a:solidFill>
                <a:latin typeface="Atkinson Hyperlegible" pitchFamily="34" charset="0"/>
                <a:ea typeface="Atkinson Hyperlegible" pitchFamily="34" charset="-122"/>
                <a:cs typeface="Atkinson Hyperlegible" pitchFamily="34" charset="-120"/>
              </a:rPr>
              <a:t>No coding knowledge needed. Describe it like you'd tell a friend.</a:t>
            </a:r>
            <a:endParaRPr lang="en-US" sz="1500" dirty="0"/>
          </a:p>
        </p:txBody>
      </p:sp>
      <p:sp>
        <p:nvSpPr>
          <p:cNvPr id="12" name="Shape 8"/>
          <p:cNvSpPr/>
          <p:nvPr/>
        </p:nvSpPr>
        <p:spPr>
          <a:xfrm>
            <a:off x="7992467" y="3822700"/>
            <a:ext cx="3386634" cy="2222500"/>
          </a:xfrm>
          <a:prstGeom prst="roundRect">
            <a:avLst>
              <a:gd name="adj" fmla="val 5714"/>
            </a:avLst>
          </a:prstGeom>
          <a:solidFill>
            <a:srgbClr val="F3EFE6"/>
          </a:solidFill>
          <a:ln/>
        </p:spPr>
      </p:sp>
      <p:pic>
        <p:nvPicPr>
          <p:cNvPr id="13" name="Image 2" descr="ThumbsUp">    </p:cNvPr>
          <p:cNvPicPr>
            <a:picLocks noChangeAspect="1"/>
          </p:cNvPicPr>
          <p:nvPr/>
        </p:nvPicPr>
        <p:blipFill>
          <a:blip r:embed="rId3"/>
          <a:srcRect l="0" r="0" t="0" b="0"/>
          <a:stretch/>
        </p:blipFill>
        <p:spPr>
          <a:xfrm>
            <a:off x="8246467" y="4076700"/>
            <a:ext cx="355600" cy="355600"/>
          </a:xfrm>
          <a:prstGeom prst="rect">
            <a:avLst/>
          </a:prstGeom>
        </p:spPr>
      </p:pic>
      <p:sp>
        <p:nvSpPr>
          <p:cNvPr id="14" name="Text 9"/>
          <p:cNvSpPr/>
          <p:nvPr/>
        </p:nvSpPr>
        <p:spPr>
          <a:xfrm>
            <a:off x="8246467" y="455930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24"/>
                </a:solidFill>
                <a:latin typeface="Bricolage Grotesque" pitchFamily="34" charset="0"/>
                <a:ea typeface="Bricolage Grotesque" pitchFamily="34" charset="-122"/>
                <a:cs typeface="Bricolage Grotesque" pitchFamily="34" charset="-120"/>
              </a:rPr>
              <a:t>No wrong answers</a:t>
            </a:r>
            <a:endParaRPr lang="en-US" sz="2000" dirty="0"/>
          </a:p>
        </p:txBody>
      </p:sp>
      <p:sp>
        <p:nvSpPr>
          <p:cNvPr id="15" name="Text 10"/>
          <p:cNvSpPr/>
          <p:nvPr/>
        </p:nvSpPr>
        <p:spPr>
          <a:xfrm>
            <a:off x="8246467" y="4991100"/>
            <a:ext cx="296499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148"/>
                </a:solidFill>
                <a:latin typeface="Atkinson Hyperlegible" pitchFamily="34" charset="0"/>
                <a:ea typeface="Atkinson Hyperlegible" pitchFamily="34" charset="-122"/>
                <a:cs typeface="Atkinson Hyperlegible" pitchFamily="34" charset="-120"/>
              </a:rPr>
              <a:t>Every idea counts, however silly. Silly is often where the good ones are.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YOUR TARGET</a:t>
            </a:r>
            <a:endParaRPr lang="en-US" sz="1400" dirty="0"/>
          </a:p>
        </p:txBody>
      </p:sp>
      <p:sp>
        <p:nvSpPr>
          <p:cNvPr id="3" name="Text 1"/>
          <p:cNvSpPr/>
          <p:nvPr>
            <p:ph type="title"/>
          </p:nvPr>
        </p:nvSpPr>
        <p:spPr>
          <a:xfrm>
            <a:off x="812800" y="11620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Meet Crust Club, a small pizza takeaway's website</a:t>
            </a:r>
            <a:endParaRPr lang="en-US" sz="3600" dirty="0"/>
          </a:p>
        </p:txBody>
      </p:sp>
      <p:sp>
        <p:nvSpPr>
          <p:cNvPr id="4" name="Shape 2"/>
          <p:cNvSpPr/>
          <p:nvPr/>
        </p:nvSpPr>
        <p:spPr>
          <a:xfrm>
            <a:off x="812800" y="2470150"/>
            <a:ext cx="5194300" cy="1289050"/>
          </a:xfrm>
          <a:prstGeom prst="roundRect">
            <a:avLst>
              <a:gd name="adj" fmla="val 9852"/>
            </a:avLst>
          </a:prstGeom>
          <a:solidFill>
            <a:srgbClr val="FBFAF7"/>
          </a:solidFill>
          <a:ln/>
        </p:spPr>
      </p:sp>
      <p:pic>
        <p:nvPicPr>
          <p:cNvPr id="5" name="Image 0" descr="Users">    </p:cNvPr>
          <p:cNvPicPr>
            <a:picLocks noChangeAspect="1"/>
          </p:cNvPicPr>
          <p:nvPr/>
        </p:nvPicPr>
        <p:blipFill>
          <a:blip r:embed="rId1"/>
          <a:srcRect l="0" r="0" t="0" b="0"/>
          <a:stretch/>
        </p:blipFill>
        <p:spPr>
          <a:xfrm>
            <a:off x="1041400" y="2698750"/>
            <a:ext cx="355600" cy="355600"/>
          </a:xfrm>
          <a:prstGeom prst="rect">
            <a:avLst/>
          </a:prstGeom>
        </p:spPr>
      </p:pic>
      <p:sp>
        <p:nvSpPr>
          <p:cNvPr id="6" name="Text 3"/>
          <p:cNvSpPr/>
          <p:nvPr/>
        </p:nvSpPr>
        <p:spPr>
          <a:xfrm>
            <a:off x="1574800" y="2698750"/>
            <a:ext cx="432981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Customers</a:t>
            </a:r>
            <a:endParaRPr lang="en-US" sz="1800" dirty="0"/>
          </a:p>
        </p:txBody>
      </p:sp>
      <p:sp>
        <p:nvSpPr>
          <p:cNvPr id="7" name="Text 4"/>
          <p:cNvSpPr/>
          <p:nvPr/>
        </p:nvSpPr>
        <p:spPr>
          <a:xfrm>
            <a:off x="1574800" y="3035300"/>
            <a:ext cx="432981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148"/>
                </a:solidFill>
                <a:latin typeface="Atkinson Hyperlegible" pitchFamily="34" charset="0"/>
                <a:ea typeface="Atkinson Hyperlegible" pitchFamily="34" charset="-122"/>
                <a:cs typeface="Atkinson Hyperlegible" pitchFamily="34" charset="-120"/>
              </a:rPr>
              <a:t>Create an account, save their address and card, order pizza, and see past orders.</a:t>
            </a:r>
            <a:endParaRPr lang="en-US" sz="1400" dirty="0"/>
          </a:p>
        </p:txBody>
      </p:sp>
      <p:sp>
        <p:nvSpPr>
          <p:cNvPr id="8" name="Shape 5"/>
          <p:cNvSpPr/>
          <p:nvPr/>
        </p:nvSpPr>
        <p:spPr>
          <a:xfrm>
            <a:off x="6184900" y="2470150"/>
            <a:ext cx="5194300" cy="1289050"/>
          </a:xfrm>
          <a:prstGeom prst="roundRect">
            <a:avLst>
              <a:gd name="adj" fmla="val 9852"/>
            </a:avLst>
          </a:prstGeom>
          <a:solidFill>
            <a:srgbClr val="FBFAF7"/>
          </a:solidFill>
          <a:ln/>
        </p:spPr>
      </p:sp>
      <p:pic>
        <p:nvPicPr>
          <p:cNvPr id="9" name="Image 1" descr="Settings">    </p:cNvPr>
          <p:cNvPicPr>
            <a:picLocks noChangeAspect="1"/>
          </p:cNvPicPr>
          <p:nvPr/>
        </p:nvPicPr>
        <p:blipFill>
          <a:blip r:embed="rId2"/>
          <a:srcRect l="0" r="0" t="0" b="0"/>
          <a:stretch/>
        </p:blipFill>
        <p:spPr>
          <a:xfrm>
            <a:off x="6413500" y="2698750"/>
            <a:ext cx="355600" cy="355600"/>
          </a:xfrm>
          <a:prstGeom prst="rect">
            <a:avLst/>
          </a:prstGeom>
        </p:spPr>
      </p:pic>
      <p:sp>
        <p:nvSpPr>
          <p:cNvPr id="10" name="Text 6"/>
          <p:cNvSpPr/>
          <p:nvPr/>
        </p:nvSpPr>
        <p:spPr>
          <a:xfrm>
            <a:off x="6946900" y="2698750"/>
            <a:ext cx="432981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Staff</a:t>
            </a:r>
            <a:endParaRPr lang="en-US" sz="1800" dirty="0"/>
          </a:p>
        </p:txBody>
      </p:sp>
      <p:sp>
        <p:nvSpPr>
          <p:cNvPr id="11" name="Text 7"/>
          <p:cNvSpPr/>
          <p:nvPr/>
        </p:nvSpPr>
        <p:spPr>
          <a:xfrm>
            <a:off x="6946900" y="3035300"/>
            <a:ext cx="432981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148"/>
                </a:solidFill>
                <a:latin typeface="Atkinson Hyperlegible" pitchFamily="34" charset="0"/>
                <a:ea typeface="Atkinson Hyperlegible" pitchFamily="34" charset="-122"/>
                <a:cs typeface="Atkinson Hyperlegible" pitchFamily="34" charset="-120"/>
              </a:rPr>
              <a:t>Use a separate admin page to see orders, change prices, and issue refunds.</a:t>
            </a:r>
            <a:endParaRPr lang="en-US" sz="1400" dirty="0"/>
          </a:p>
        </p:txBody>
      </p:sp>
      <p:sp>
        <p:nvSpPr>
          <p:cNvPr id="12" name="Shape 8"/>
          <p:cNvSpPr/>
          <p:nvPr/>
        </p:nvSpPr>
        <p:spPr>
          <a:xfrm>
            <a:off x="812800" y="3937000"/>
            <a:ext cx="5194300" cy="1289050"/>
          </a:xfrm>
          <a:prstGeom prst="roundRect">
            <a:avLst>
              <a:gd name="adj" fmla="val 9852"/>
            </a:avLst>
          </a:prstGeom>
          <a:solidFill>
            <a:srgbClr val="FBFAF7"/>
          </a:solidFill>
          <a:ln/>
        </p:spPr>
      </p:sp>
      <p:pic>
        <p:nvPicPr>
          <p:cNvPr id="13" name="Image 2" descr="Code">    </p:cNvPr>
          <p:cNvPicPr>
            <a:picLocks noChangeAspect="1"/>
          </p:cNvPicPr>
          <p:nvPr/>
        </p:nvPicPr>
        <p:blipFill>
          <a:blip r:embed="rId3"/>
          <a:srcRect l="0" r="0" t="0" b="0"/>
          <a:stretch/>
        </p:blipFill>
        <p:spPr>
          <a:xfrm>
            <a:off x="1041400" y="4165600"/>
            <a:ext cx="355600" cy="355600"/>
          </a:xfrm>
          <a:prstGeom prst="rect">
            <a:avLst/>
          </a:prstGeom>
        </p:spPr>
      </p:pic>
      <p:sp>
        <p:nvSpPr>
          <p:cNvPr id="14" name="Text 9"/>
          <p:cNvSpPr/>
          <p:nvPr/>
        </p:nvSpPr>
        <p:spPr>
          <a:xfrm>
            <a:off x="1574800" y="4165600"/>
            <a:ext cx="432981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The website</a:t>
            </a:r>
            <a:endParaRPr lang="en-US" sz="1800" dirty="0"/>
          </a:p>
        </p:txBody>
      </p:sp>
      <p:sp>
        <p:nvSpPr>
          <p:cNvPr id="15" name="Text 10"/>
          <p:cNvSpPr/>
          <p:nvPr/>
        </p:nvSpPr>
        <p:spPr>
          <a:xfrm>
            <a:off x="1574800" y="4502150"/>
            <a:ext cx="432981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148"/>
                </a:solidFill>
                <a:latin typeface="Atkinson Hyperlegible" pitchFamily="34" charset="0"/>
                <a:ea typeface="Atkinson Hyperlegible" pitchFamily="34" charset="-122"/>
                <a:cs typeface="Atkinson Hyperlegible" pitchFamily="34" charset="-120"/>
              </a:rPr>
              <a:t>Built with lots of free code written by other people, and hosted in the cloud.</a:t>
            </a:r>
            <a:endParaRPr lang="en-US" sz="1400" dirty="0"/>
          </a:p>
        </p:txBody>
      </p:sp>
      <p:sp>
        <p:nvSpPr>
          <p:cNvPr id="16" name="Shape 11"/>
          <p:cNvSpPr/>
          <p:nvPr/>
        </p:nvSpPr>
        <p:spPr>
          <a:xfrm>
            <a:off x="6184900" y="3937000"/>
            <a:ext cx="5194300" cy="1289050"/>
          </a:xfrm>
          <a:prstGeom prst="roundRect">
            <a:avLst>
              <a:gd name="adj" fmla="val 9852"/>
            </a:avLst>
          </a:prstGeom>
          <a:solidFill>
            <a:srgbClr val="FBFAF7"/>
          </a:solidFill>
          <a:ln/>
        </p:spPr>
      </p:sp>
      <p:pic>
        <p:nvPicPr>
          <p:cNvPr id="17" name="Image 3" descr="Warning">    </p:cNvPr>
          <p:cNvPicPr>
            <a:picLocks noChangeAspect="1"/>
          </p:cNvPicPr>
          <p:nvPr/>
        </p:nvPicPr>
        <p:blipFill>
          <a:blip r:embed="rId4"/>
          <a:srcRect l="0" r="0" t="0" b="0"/>
          <a:stretch/>
        </p:blipFill>
        <p:spPr>
          <a:xfrm>
            <a:off x="6413500" y="4165600"/>
            <a:ext cx="355600" cy="355600"/>
          </a:xfrm>
          <a:prstGeom prst="rect">
            <a:avLst/>
          </a:prstGeom>
        </p:spPr>
      </p:pic>
      <p:sp>
        <p:nvSpPr>
          <p:cNvPr id="18" name="Text 12"/>
          <p:cNvSpPr/>
          <p:nvPr/>
        </p:nvSpPr>
        <p:spPr>
          <a:xfrm>
            <a:off x="6946900" y="4165600"/>
            <a:ext cx="432981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When something breaks</a:t>
            </a:r>
            <a:endParaRPr lang="en-US" sz="1800" dirty="0"/>
          </a:p>
        </p:txBody>
      </p:sp>
      <p:sp>
        <p:nvSpPr>
          <p:cNvPr id="19" name="Text 13"/>
          <p:cNvSpPr/>
          <p:nvPr/>
        </p:nvSpPr>
        <p:spPr>
          <a:xfrm>
            <a:off x="6946900" y="4502150"/>
            <a:ext cx="432981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148"/>
                </a:solidFill>
                <a:latin typeface="Atkinson Hyperlegible" pitchFamily="34" charset="0"/>
                <a:ea typeface="Atkinson Hyperlegible" pitchFamily="34" charset="-122"/>
                <a:cs typeface="Atkinson Hyperlegible" pitchFamily="34" charset="-120"/>
              </a:rPr>
              <a:t>The site shows an error message to whoever is using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HOW SOFTWARE GETS MADE</a:t>
            </a:r>
            <a:endParaRPr lang="en-US" sz="1400" dirty="0"/>
          </a:p>
        </p:txBody>
      </p:sp>
      <p:sp>
        <p:nvSpPr>
          <p:cNvPr id="3" name="Text 1"/>
          <p:cNvSpPr/>
          <p:nvPr>
            <p:ph type="title"/>
          </p:nvPr>
        </p:nvSpPr>
        <p:spPr>
          <a:xfrm>
            <a:off x="812800" y="11620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Things can go wrong at every stage, not just in the code</a:t>
            </a:r>
            <a:endParaRPr lang="en-US" sz="3600" dirty="0"/>
          </a:p>
        </p:txBody>
      </p:sp>
      <p:sp>
        <p:nvSpPr>
          <p:cNvPr id="4" name="Shape 2"/>
          <p:cNvSpPr/>
          <p:nvPr/>
        </p:nvSpPr>
        <p:spPr>
          <a:xfrm>
            <a:off x="812800" y="2419350"/>
            <a:ext cx="1655266" cy="1955800"/>
          </a:xfrm>
          <a:prstGeom prst="roundRect">
            <a:avLst>
              <a:gd name="adj" fmla="val 6905"/>
            </a:avLst>
          </a:prstGeom>
          <a:solidFill>
            <a:srgbClr val="F3EFE6"/>
          </a:solidFill>
          <a:ln/>
        </p:spPr>
      </p:sp>
      <p:sp>
        <p:nvSpPr>
          <p:cNvPr id="5" name="Shape 3"/>
          <p:cNvSpPr/>
          <p:nvPr/>
        </p:nvSpPr>
        <p:spPr>
          <a:xfrm>
            <a:off x="812800"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F5B82E"/>
          </a:solidFill>
          <a:ln/>
        </p:spPr>
      </p:sp>
      <p:sp>
        <p:nvSpPr>
          <p:cNvPr id="6" name="Text 4"/>
          <p:cNvSpPr/>
          <p:nvPr/>
        </p:nvSpPr>
        <p:spPr>
          <a:xfrm>
            <a:off x="990600"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55B"/>
                </a:solidFill>
                <a:latin typeface="Atkinson Hyperlegible" pitchFamily="34" charset="0"/>
                <a:ea typeface="Atkinson Hyperlegible" pitchFamily="34" charset="-122"/>
                <a:cs typeface="Atkinson Hyperlegible" pitchFamily="34" charset="-120"/>
              </a:rPr>
              <a:t>1</a:t>
            </a:r>
            <a:endParaRPr lang="en-US" sz="1200" dirty="0"/>
          </a:p>
        </p:txBody>
      </p:sp>
      <p:sp>
        <p:nvSpPr>
          <p:cNvPr id="7" name="Text 5"/>
          <p:cNvSpPr/>
          <p:nvPr/>
        </p:nvSpPr>
        <p:spPr>
          <a:xfrm>
            <a:off x="990600"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Plan</a:t>
            </a:r>
            <a:endParaRPr lang="en-US" sz="1800" dirty="0"/>
          </a:p>
        </p:txBody>
      </p:sp>
      <p:sp>
        <p:nvSpPr>
          <p:cNvPr id="8" name="Text 6"/>
          <p:cNvSpPr/>
          <p:nvPr/>
        </p:nvSpPr>
        <p:spPr>
          <a:xfrm>
            <a:off x="990600" y="3308350"/>
            <a:ext cx="1350466"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148"/>
                </a:solidFill>
                <a:latin typeface="Atkinson Hyperlegible" pitchFamily="34" charset="0"/>
                <a:ea typeface="Atkinson Hyperlegible" pitchFamily="34" charset="-122"/>
                <a:cs typeface="Atkinson Hyperlegible" pitchFamily="34" charset="-120"/>
              </a:rPr>
              <a:t>Nobody asks how it could be misused</a:t>
            </a:r>
            <a:endParaRPr lang="en-US" sz="1300" dirty="0"/>
          </a:p>
        </p:txBody>
      </p:sp>
      <p:sp>
        <p:nvSpPr>
          <p:cNvPr id="9" name="Shape 7"/>
          <p:cNvSpPr/>
          <p:nvPr/>
        </p:nvSpPr>
        <p:spPr>
          <a:xfrm>
            <a:off x="2595066" y="2419350"/>
            <a:ext cx="1655266" cy="1955800"/>
          </a:xfrm>
          <a:prstGeom prst="roundRect">
            <a:avLst>
              <a:gd name="adj" fmla="val 6905"/>
            </a:avLst>
          </a:prstGeom>
          <a:solidFill>
            <a:srgbClr val="F3EFE6"/>
          </a:solidFill>
          <a:ln/>
        </p:spPr>
      </p:sp>
      <p:sp>
        <p:nvSpPr>
          <p:cNvPr id="10" name="Shape 8"/>
          <p:cNvSpPr/>
          <p:nvPr/>
        </p:nvSpPr>
        <p:spPr>
          <a:xfrm>
            <a:off x="2595066"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F5B82E"/>
          </a:solidFill>
          <a:ln/>
        </p:spPr>
      </p:sp>
      <p:sp>
        <p:nvSpPr>
          <p:cNvPr id="11" name="Text 9"/>
          <p:cNvSpPr/>
          <p:nvPr/>
        </p:nvSpPr>
        <p:spPr>
          <a:xfrm>
            <a:off x="2772866"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55B"/>
                </a:solidFill>
                <a:latin typeface="Atkinson Hyperlegible" pitchFamily="34" charset="0"/>
                <a:ea typeface="Atkinson Hyperlegible" pitchFamily="34" charset="-122"/>
                <a:cs typeface="Atkinson Hyperlegible" pitchFamily="34" charset="-120"/>
              </a:rPr>
              <a:t>2</a:t>
            </a:r>
            <a:endParaRPr lang="en-US" sz="1200" dirty="0"/>
          </a:p>
        </p:txBody>
      </p:sp>
      <p:sp>
        <p:nvSpPr>
          <p:cNvPr id="12" name="Text 10"/>
          <p:cNvSpPr/>
          <p:nvPr/>
        </p:nvSpPr>
        <p:spPr>
          <a:xfrm>
            <a:off x="2772866"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Design</a:t>
            </a:r>
            <a:endParaRPr lang="en-US" sz="1800" dirty="0"/>
          </a:p>
        </p:txBody>
      </p:sp>
      <p:sp>
        <p:nvSpPr>
          <p:cNvPr id="13" name="Text 11"/>
          <p:cNvSpPr/>
          <p:nvPr/>
        </p:nvSpPr>
        <p:spPr>
          <a:xfrm>
            <a:off x="2772866" y="3308350"/>
            <a:ext cx="1350466"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148"/>
                </a:solidFill>
                <a:latin typeface="Atkinson Hyperlegible" pitchFamily="34" charset="0"/>
                <a:ea typeface="Atkinson Hyperlegible" pitchFamily="34" charset="-122"/>
                <a:cs typeface="Atkinson Hyperlegible" pitchFamily="34" charset="-120"/>
              </a:rPr>
              <a:t>Refunds of any amount, no checks</a:t>
            </a:r>
            <a:endParaRPr lang="en-US" sz="1300" dirty="0"/>
          </a:p>
        </p:txBody>
      </p:sp>
      <p:sp>
        <p:nvSpPr>
          <p:cNvPr id="14" name="Shape 12"/>
          <p:cNvSpPr/>
          <p:nvPr/>
        </p:nvSpPr>
        <p:spPr>
          <a:xfrm>
            <a:off x="4377333" y="2419350"/>
            <a:ext cx="1655266" cy="1955800"/>
          </a:xfrm>
          <a:prstGeom prst="roundRect">
            <a:avLst>
              <a:gd name="adj" fmla="val 6905"/>
            </a:avLst>
          </a:prstGeom>
          <a:solidFill>
            <a:srgbClr val="1B1F24"/>
          </a:solidFill>
          <a:ln/>
        </p:spPr>
      </p:sp>
      <p:sp>
        <p:nvSpPr>
          <p:cNvPr id="15" name="Shape 13"/>
          <p:cNvSpPr/>
          <p:nvPr/>
        </p:nvSpPr>
        <p:spPr>
          <a:xfrm>
            <a:off x="4377333"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C2361F"/>
          </a:solidFill>
          <a:ln/>
        </p:spPr>
      </p:sp>
      <p:sp>
        <p:nvSpPr>
          <p:cNvPr id="16" name="Text 14"/>
          <p:cNvSpPr/>
          <p:nvPr/>
        </p:nvSpPr>
        <p:spPr>
          <a:xfrm>
            <a:off x="4555133"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D4C9"/>
                </a:solidFill>
                <a:latin typeface="Atkinson Hyperlegible" pitchFamily="34" charset="0"/>
                <a:ea typeface="Atkinson Hyperlegible" pitchFamily="34" charset="-122"/>
                <a:cs typeface="Atkinson Hyperlegible" pitchFamily="34" charset="-120"/>
              </a:rPr>
              <a:t>3</a:t>
            </a:r>
            <a:endParaRPr lang="en-US" sz="1200" dirty="0"/>
          </a:p>
        </p:txBody>
      </p:sp>
      <p:sp>
        <p:nvSpPr>
          <p:cNvPr id="17" name="Text 15"/>
          <p:cNvSpPr/>
          <p:nvPr/>
        </p:nvSpPr>
        <p:spPr>
          <a:xfrm>
            <a:off x="4555133"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Bricolage Grotesque" pitchFamily="34" charset="0"/>
                <a:ea typeface="Bricolage Grotesque" pitchFamily="34" charset="-122"/>
                <a:cs typeface="Bricolage Grotesque" pitchFamily="34" charset="-120"/>
              </a:rPr>
              <a:t>Build</a:t>
            </a:r>
            <a:endParaRPr lang="en-US" sz="1800" dirty="0"/>
          </a:p>
        </p:txBody>
      </p:sp>
      <p:sp>
        <p:nvSpPr>
          <p:cNvPr id="18" name="Text 16"/>
          <p:cNvSpPr/>
          <p:nvPr/>
        </p:nvSpPr>
        <p:spPr>
          <a:xfrm>
            <a:off x="4555133" y="3308350"/>
            <a:ext cx="1350466" cy="9144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9D4C9"/>
                </a:solidFill>
                <a:latin typeface="Atkinson Hyperlegible" pitchFamily="34" charset="0"/>
                <a:ea typeface="Atkinson Hyperlegible" pitchFamily="34" charset="-122"/>
                <a:cs typeface="Atkinson Hyperlegible" pitchFamily="34" charset="-120"/>
              </a:rPr>
              <a:t>Borrowed code with holes, passwords in the code</a:t>
            </a:r>
            <a:endParaRPr lang="en-US" sz="1300" dirty="0"/>
          </a:p>
        </p:txBody>
      </p:sp>
      <p:sp>
        <p:nvSpPr>
          <p:cNvPr id="19" name="Shape 17"/>
          <p:cNvSpPr/>
          <p:nvPr/>
        </p:nvSpPr>
        <p:spPr>
          <a:xfrm>
            <a:off x="6159599" y="2419350"/>
            <a:ext cx="1655266" cy="1955800"/>
          </a:xfrm>
          <a:prstGeom prst="roundRect">
            <a:avLst>
              <a:gd name="adj" fmla="val 6905"/>
            </a:avLst>
          </a:prstGeom>
          <a:solidFill>
            <a:srgbClr val="F3EFE6"/>
          </a:solidFill>
          <a:ln/>
        </p:spPr>
      </p:sp>
      <p:sp>
        <p:nvSpPr>
          <p:cNvPr id="20" name="Shape 18"/>
          <p:cNvSpPr/>
          <p:nvPr/>
        </p:nvSpPr>
        <p:spPr>
          <a:xfrm>
            <a:off x="6159599"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F5B82E"/>
          </a:solidFill>
          <a:ln/>
        </p:spPr>
      </p:sp>
      <p:sp>
        <p:nvSpPr>
          <p:cNvPr id="21" name="Text 19"/>
          <p:cNvSpPr/>
          <p:nvPr/>
        </p:nvSpPr>
        <p:spPr>
          <a:xfrm>
            <a:off x="6337399"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55B"/>
                </a:solidFill>
                <a:latin typeface="Atkinson Hyperlegible" pitchFamily="34" charset="0"/>
                <a:ea typeface="Atkinson Hyperlegible" pitchFamily="34" charset="-122"/>
                <a:cs typeface="Atkinson Hyperlegible" pitchFamily="34" charset="-120"/>
              </a:rPr>
              <a:t>4</a:t>
            </a:r>
            <a:endParaRPr lang="en-US" sz="1200" dirty="0"/>
          </a:p>
        </p:txBody>
      </p:sp>
      <p:sp>
        <p:nvSpPr>
          <p:cNvPr id="22" name="Text 20"/>
          <p:cNvSpPr/>
          <p:nvPr/>
        </p:nvSpPr>
        <p:spPr>
          <a:xfrm>
            <a:off x="6337399"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Test</a:t>
            </a:r>
            <a:endParaRPr lang="en-US" sz="1800" dirty="0"/>
          </a:p>
        </p:txBody>
      </p:sp>
      <p:sp>
        <p:nvSpPr>
          <p:cNvPr id="23" name="Text 21"/>
          <p:cNvSpPr/>
          <p:nvPr/>
        </p:nvSpPr>
        <p:spPr>
          <a:xfrm>
            <a:off x="6337399" y="3308350"/>
            <a:ext cx="1350466"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148"/>
                </a:solidFill>
                <a:latin typeface="Atkinson Hyperlegible" pitchFamily="34" charset="0"/>
                <a:ea typeface="Atkinson Hyperlegible" pitchFamily="34" charset="-122"/>
                <a:cs typeface="Atkinson Hyperlegible" pitchFamily="34" charset="-120"/>
              </a:rPr>
              <a:t>Only testing when things go right</a:t>
            </a:r>
            <a:endParaRPr lang="en-US" sz="1300" dirty="0"/>
          </a:p>
        </p:txBody>
      </p:sp>
      <p:sp>
        <p:nvSpPr>
          <p:cNvPr id="24" name="Shape 22"/>
          <p:cNvSpPr/>
          <p:nvPr/>
        </p:nvSpPr>
        <p:spPr>
          <a:xfrm>
            <a:off x="7941866" y="2419350"/>
            <a:ext cx="1655266" cy="1955800"/>
          </a:xfrm>
          <a:prstGeom prst="roundRect">
            <a:avLst>
              <a:gd name="adj" fmla="val 6905"/>
            </a:avLst>
          </a:prstGeom>
          <a:solidFill>
            <a:srgbClr val="F3EFE6"/>
          </a:solidFill>
          <a:ln/>
        </p:spPr>
      </p:sp>
      <p:sp>
        <p:nvSpPr>
          <p:cNvPr id="25" name="Shape 23"/>
          <p:cNvSpPr/>
          <p:nvPr/>
        </p:nvSpPr>
        <p:spPr>
          <a:xfrm>
            <a:off x="7941866"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F5B82E"/>
          </a:solidFill>
          <a:ln/>
        </p:spPr>
      </p:sp>
      <p:sp>
        <p:nvSpPr>
          <p:cNvPr id="26" name="Text 24"/>
          <p:cNvSpPr/>
          <p:nvPr/>
        </p:nvSpPr>
        <p:spPr>
          <a:xfrm>
            <a:off x="8119666"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55B"/>
                </a:solidFill>
                <a:latin typeface="Atkinson Hyperlegible" pitchFamily="34" charset="0"/>
                <a:ea typeface="Atkinson Hyperlegible" pitchFamily="34" charset="-122"/>
                <a:cs typeface="Atkinson Hyperlegible" pitchFamily="34" charset="-120"/>
              </a:rPr>
              <a:t>5</a:t>
            </a:r>
            <a:endParaRPr lang="en-US" sz="1200" dirty="0"/>
          </a:p>
        </p:txBody>
      </p:sp>
      <p:sp>
        <p:nvSpPr>
          <p:cNvPr id="27" name="Text 25"/>
          <p:cNvSpPr/>
          <p:nvPr/>
        </p:nvSpPr>
        <p:spPr>
          <a:xfrm>
            <a:off x="8119666"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Release</a:t>
            </a:r>
            <a:endParaRPr lang="en-US" sz="1800" dirty="0"/>
          </a:p>
        </p:txBody>
      </p:sp>
      <p:sp>
        <p:nvSpPr>
          <p:cNvPr id="28" name="Text 26"/>
          <p:cNvSpPr/>
          <p:nvPr/>
        </p:nvSpPr>
        <p:spPr>
          <a:xfrm>
            <a:off x="8119666" y="3308350"/>
            <a:ext cx="1350466"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148"/>
                </a:solidFill>
                <a:latin typeface="Atkinson Hyperlegible" pitchFamily="34" charset="0"/>
                <a:ea typeface="Atkinson Hyperlegible" pitchFamily="34" charset="-122"/>
                <a:cs typeface="Atkinson Hyperlegible" pitchFamily="34" charset="-120"/>
              </a:rPr>
              <a:t>Default settings left on, updates not checked</a:t>
            </a:r>
            <a:endParaRPr lang="en-US" sz="1300" dirty="0"/>
          </a:p>
        </p:txBody>
      </p:sp>
      <p:sp>
        <p:nvSpPr>
          <p:cNvPr id="29" name="Shape 27"/>
          <p:cNvSpPr/>
          <p:nvPr/>
        </p:nvSpPr>
        <p:spPr>
          <a:xfrm>
            <a:off x="9724132" y="2419350"/>
            <a:ext cx="1655266" cy="1955800"/>
          </a:xfrm>
          <a:prstGeom prst="roundRect">
            <a:avLst>
              <a:gd name="adj" fmla="val 6905"/>
            </a:avLst>
          </a:prstGeom>
          <a:solidFill>
            <a:srgbClr val="F3EFE6"/>
          </a:solidFill>
          <a:ln/>
        </p:spPr>
      </p:sp>
      <p:sp>
        <p:nvSpPr>
          <p:cNvPr id="30" name="Shape 28"/>
          <p:cNvSpPr/>
          <p:nvPr/>
        </p:nvSpPr>
        <p:spPr>
          <a:xfrm>
            <a:off x="9724132" y="2419350"/>
            <a:ext cx="1655266" cy="1955800"/>
          </a:xfrm>
          <a:custGeom>
            <a:avLst/>
            <a:gdLst/>
            <a:ahLst/>
            <a:cxnLst/>
            <a:rect l="l" t="t" r="r" b="b"/>
            <a:pathLst>
              <a:path w="1655266" h="1955800">
                <a:moveTo>
                  <a:pt x="0" y="114300"/>
                </a:moveTo>
                <a:lnTo>
                  <a:pt x="0" y="114300"/>
                </a:lnTo>
                <a:arcTo hR="114300" wR="114300" stAng="10800000" swAng="5400000"/>
                <a:lnTo>
                  <a:pt x="1540966" y="0"/>
                </a:lnTo>
                <a:arcTo hR="114300" wR="114300" stAng="16200000" swAng="5400000"/>
                <a:lnTo>
                  <a:pt x="1655266" y="114300"/>
                </a:lnTo>
                <a:arcTo hR="63500" wR="114300" stAng="0" swAng="-5400000"/>
                <a:lnTo>
                  <a:pt x="114300" y="50800"/>
                </a:lnTo>
                <a:arcTo hR="63500" wR="114300" stAng="16200000" swAng="-5400000"/>
                <a:close/>
              </a:path>
            </a:pathLst>
          </a:custGeom>
          <a:solidFill>
            <a:srgbClr val="F5B82E"/>
          </a:solidFill>
          <a:ln/>
        </p:spPr>
      </p:sp>
      <p:sp>
        <p:nvSpPr>
          <p:cNvPr id="31" name="Text 29"/>
          <p:cNvSpPr/>
          <p:nvPr/>
        </p:nvSpPr>
        <p:spPr>
          <a:xfrm>
            <a:off x="9901932" y="2647950"/>
            <a:ext cx="135046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655B"/>
                </a:solidFill>
                <a:latin typeface="Atkinson Hyperlegible" pitchFamily="34" charset="0"/>
                <a:ea typeface="Atkinson Hyperlegible" pitchFamily="34" charset="-122"/>
                <a:cs typeface="Atkinson Hyperlegible" pitchFamily="34" charset="-120"/>
              </a:rPr>
              <a:t>6</a:t>
            </a:r>
            <a:endParaRPr lang="en-US" sz="1200" dirty="0"/>
          </a:p>
        </p:txBody>
      </p:sp>
      <p:sp>
        <p:nvSpPr>
          <p:cNvPr id="32" name="Text 30"/>
          <p:cNvSpPr/>
          <p:nvPr/>
        </p:nvSpPr>
        <p:spPr>
          <a:xfrm>
            <a:off x="9901932" y="2946400"/>
            <a:ext cx="135046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Run</a:t>
            </a:r>
            <a:endParaRPr lang="en-US" sz="1800" dirty="0"/>
          </a:p>
        </p:txBody>
      </p:sp>
      <p:sp>
        <p:nvSpPr>
          <p:cNvPr id="33" name="Text 31"/>
          <p:cNvSpPr/>
          <p:nvPr/>
        </p:nvSpPr>
        <p:spPr>
          <a:xfrm>
            <a:off x="9901932" y="3308350"/>
            <a:ext cx="1350466"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148"/>
                </a:solidFill>
                <a:latin typeface="Atkinson Hyperlegible" pitchFamily="34" charset="0"/>
                <a:ea typeface="Atkinson Hyperlegible" pitchFamily="34" charset="-122"/>
                <a:cs typeface="Atkinson Hyperlegible" pitchFamily="34" charset="-120"/>
              </a:rPr>
              <a:t>Nobody watching for anything odd</a:t>
            </a:r>
            <a:endParaRPr lang="en-US" sz="1300" dirty="0"/>
          </a:p>
        </p:txBody>
      </p:sp>
      <p:sp>
        <p:nvSpPr>
          <p:cNvPr id="34" name="Shape 32"/>
          <p:cNvSpPr/>
          <p:nvPr/>
        </p:nvSpPr>
        <p:spPr>
          <a:xfrm>
            <a:off x="812800" y="4629150"/>
            <a:ext cx="10566400" cy="711200"/>
          </a:xfrm>
          <a:prstGeom prst="roundRect">
            <a:avLst>
              <a:gd name="adj" fmla="val 16071"/>
            </a:avLst>
          </a:prstGeom>
          <a:solidFill>
            <a:srgbClr val="FDF1D6"/>
          </a:solidFill>
          <a:ln/>
        </p:spPr>
      </p:sp>
      <p:pic>
        <p:nvPicPr>
          <p:cNvPr id="35" name="Image 0" descr="Users">    </p:cNvPr>
          <p:cNvPicPr>
            <a:picLocks noChangeAspect="1"/>
          </p:cNvPicPr>
          <p:nvPr/>
        </p:nvPicPr>
        <p:blipFill>
          <a:blip r:embed="rId1"/>
          <a:srcRect l="0" r="0" t="0" b="0"/>
          <a:stretch/>
        </p:blipFill>
        <p:spPr>
          <a:xfrm>
            <a:off x="1041400" y="4806950"/>
            <a:ext cx="355600" cy="355600"/>
          </a:xfrm>
          <a:prstGeom prst="rect">
            <a:avLst/>
          </a:prstGeom>
        </p:spPr>
      </p:pic>
      <p:sp>
        <p:nvSpPr>
          <p:cNvPr id="36" name="Text 33"/>
          <p:cNvSpPr/>
          <p:nvPr/>
        </p:nvSpPr>
        <p:spPr>
          <a:xfrm>
            <a:off x="1574800" y="4851400"/>
            <a:ext cx="98630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F24"/>
                </a:solidFill>
                <a:latin typeface="Atkinson Hyperlegible" pitchFamily="34" charset="0"/>
                <a:ea typeface="Atkinson Hyperlegible" pitchFamily="34" charset="-122"/>
                <a:cs typeface="Atkinson Hyperlegible" pitchFamily="34" charset="-120"/>
              </a:rPr>
              <a:t>And at every stage: people.</a:t>
            </a:r>
            <a:r>
              <a:rPr lang="en-US" sz="1500" dirty="0">
                <a:solidFill>
                  <a:srgbClr val="1B1F24"/>
                </a:solidFill>
                <a:latin typeface="Atkinson Hyperlegible" pitchFamily="34" charset="0"/>
                <a:ea typeface="Atkinson Hyperlegible" pitchFamily="34" charset="-122"/>
                <a:cs typeface="Atkinson Hyperlegible" pitchFamily="34" charset="-120"/>
              </a:rPr>
              <a:t> Shared logins, phishing emails, and laptops left unlocked.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PACKAGES AND TOOLS</a:t>
            </a:r>
            <a:endParaRPr lang="en-US" sz="1400" dirty="0"/>
          </a:p>
        </p:txBody>
      </p:sp>
      <p:sp>
        <p:nvSpPr>
          <p:cNvPr id="3" name="Text 1"/>
          <p:cNvSpPr/>
          <p:nvPr>
            <p:ph type="title"/>
          </p:nvPr>
        </p:nvSpPr>
        <p:spPr>
          <a:xfrm>
            <a:off x="812800" y="11620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We don't build everything ourselves</a:t>
            </a:r>
            <a:endParaRPr lang="en-US" sz="3600" dirty="0"/>
          </a:p>
        </p:txBody>
      </p:sp>
      <p:sp>
        <p:nvSpPr>
          <p:cNvPr id="4" name="Shape 2"/>
          <p:cNvSpPr/>
          <p:nvPr/>
        </p:nvSpPr>
        <p:spPr>
          <a:xfrm>
            <a:off x="812800" y="1917700"/>
            <a:ext cx="5181600" cy="2984500"/>
          </a:xfrm>
          <a:prstGeom prst="roundRect">
            <a:avLst>
              <a:gd name="adj" fmla="val 5106"/>
            </a:avLst>
          </a:prstGeom>
          <a:solidFill>
            <a:srgbClr val="FBFAF7"/>
          </a:solidFill>
          <a:ln/>
        </p:spPr>
      </p:sp>
      <p:sp>
        <p:nvSpPr>
          <p:cNvPr id="5" name="Text 3"/>
          <p:cNvSpPr/>
          <p:nvPr/>
        </p:nvSpPr>
        <p:spPr>
          <a:xfrm>
            <a:off x="1066800" y="2171700"/>
            <a:ext cx="481380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What's inside Crust Club</a:t>
            </a:r>
            <a:endParaRPr lang="en-US" sz="1800" dirty="0"/>
          </a:p>
        </p:txBody>
      </p:sp>
      <p:sp>
        <p:nvSpPr>
          <p:cNvPr id="6" name="Shape 4"/>
          <p:cNvSpPr/>
          <p:nvPr/>
        </p:nvSpPr>
        <p:spPr>
          <a:xfrm>
            <a:off x="1066800" y="2597150"/>
            <a:ext cx="4673600" cy="1219200"/>
          </a:xfrm>
          <a:custGeom>
            <a:avLst/>
            <a:gdLst/>
            <a:ahLst/>
            <a:cxnLst/>
            <a:rect l="l" t="t" r="r" b="b"/>
            <a:pathLst>
              <a:path w="4673600" h="1219200">
                <a:moveTo>
                  <a:pt x="0" y="101600"/>
                </a:moveTo>
                <a:arcTo hR="101600" wR="101600" stAng="10800000" swAng="5400000"/>
                <a:lnTo>
                  <a:pt x="4572000" y="0"/>
                </a:lnTo>
                <a:arcTo hR="101600" wR="101600" stAng="16200000" swAng="5400000"/>
                <a:lnTo>
                  <a:pt x="4673600" y="1219200"/>
                </a:lnTo>
                <a:lnTo>
                  <a:pt x="0" y="1219200"/>
                </a:lnTo>
                <a:close/>
              </a:path>
            </a:pathLst>
          </a:custGeom>
          <a:solidFill>
            <a:srgbClr val="F5B82E"/>
          </a:solidFill>
          <a:ln/>
        </p:spPr>
      </p:sp>
      <p:sp>
        <p:nvSpPr>
          <p:cNvPr id="7" name="Text 5"/>
          <p:cNvSpPr/>
          <p:nvPr/>
        </p:nvSpPr>
        <p:spPr>
          <a:xfrm>
            <a:off x="1270000" y="2774950"/>
            <a:ext cx="4395216" cy="375543"/>
          </a:xfrm>
          <a:prstGeom prst="rect">
            <a:avLst/>
          </a:prstGeom>
          <a:noFill/>
          <a:ln/>
        </p:spPr>
        <p:txBody>
          <a:bodyPr wrap="square" lIns="0" tIns="0" rIns="0" bIns="0" rtlCol="0" anchor="t">
            <a:normAutofit/>
          </a:bodyPr>
          <a:lstStyle/>
          <a:p>
            <a:pPr algn="l" indent="0" marL="0">
              <a:lnSpc>
                <a:spcPts val="2791"/>
              </a:lnSpc>
              <a:buNone/>
            </a:pPr>
            <a:r>
              <a:rPr lang="en-US" sz="1994" b="1" dirty="0">
                <a:solidFill>
                  <a:srgbClr val="1B1F24"/>
                </a:solidFill>
                <a:latin typeface="Bricolage Grotesque" pitchFamily="34" charset="0"/>
                <a:ea typeface="Bricolage Grotesque" pitchFamily="34" charset="-122"/>
                <a:cs typeface="Bricolage Grotesque" pitchFamily="34" charset="-120"/>
              </a:rPr>
              <a:t>Packages</a:t>
            </a:r>
            <a:endParaRPr lang="en-US" sz="1994" dirty="0"/>
          </a:p>
        </p:txBody>
      </p:sp>
      <p:sp>
        <p:nvSpPr>
          <p:cNvPr id="8" name="Text 6"/>
          <p:cNvSpPr/>
          <p:nvPr/>
        </p:nvSpPr>
        <p:spPr>
          <a:xfrm>
            <a:off x="1270000" y="3175893"/>
            <a:ext cx="4395216" cy="488057"/>
          </a:xfrm>
          <a:prstGeom prst="rect">
            <a:avLst/>
          </a:prstGeom>
          <a:noFill/>
          <a:ln/>
        </p:spPr>
        <p:txBody>
          <a:bodyPr wrap="square" lIns="0" tIns="0" rIns="0" bIns="0" rtlCol="0" anchor="t">
            <a:normAutofit/>
          </a:bodyPr>
          <a:lstStyle/>
          <a:p>
            <a:pPr algn="l" indent="0" marL="0">
              <a:lnSpc>
                <a:spcPts val="1849"/>
              </a:lnSpc>
              <a:buNone/>
            </a:pPr>
            <a:r>
              <a:rPr lang="en-US" sz="1369" dirty="0">
                <a:solidFill>
                  <a:srgbClr val="1B1F24"/>
                </a:solidFill>
                <a:latin typeface="Atkinson Hyperlegible" pitchFamily="34" charset="0"/>
                <a:ea typeface="Atkinson Hyperlegible" pitchFamily="34" charset="-122"/>
                <a:cs typeface="Atkinson Hyperlegible" pitchFamily="34" charset="-120"/>
              </a:rPr>
              <a:t>Free code written by other people, for logins, payments, web pages and more</a:t>
            </a:r>
            <a:endParaRPr lang="en-US" sz="1369" dirty="0"/>
          </a:p>
        </p:txBody>
      </p:sp>
      <p:sp>
        <p:nvSpPr>
          <p:cNvPr id="9" name="Shape 7"/>
          <p:cNvSpPr/>
          <p:nvPr/>
        </p:nvSpPr>
        <p:spPr>
          <a:xfrm>
            <a:off x="1066800" y="3816350"/>
            <a:ext cx="4673600" cy="469900"/>
          </a:xfrm>
          <a:custGeom>
            <a:avLst/>
            <a:gdLst/>
            <a:ahLst/>
            <a:cxnLst/>
            <a:rect l="l" t="t" r="r" b="b"/>
            <a:pathLst>
              <a:path w="4673600" h="469900">
                <a:moveTo>
                  <a:pt x="4673600" y="368300"/>
                </a:moveTo>
                <a:arcTo hR="101600" wR="101600" stAng="0" swAng="5400000"/>
                <a:lnTo>
                  <a:pt x="101600" y="469900"/>
                </a:lnTo>
                <a:arcTo hR="101600" wR="101600" stAng="5400000" swAng="5400000"/>
                <a:lnTo>
                  <a:pt x="0" y="0"/>
                </a:lnTo>
                <a:lnTo>
                  <a:pt x="4673600" y="0"/>
                </a:lnTo>
                <a:close/>
              </a:path>
            </a:pathLst>
          </a:custGeom>
          <a:solidFill>
            <a:srgbClr val="1B1F24"/>
          </a:solidFill>
          <a:ln/>
        </p:spPr>
      </p:sp>
      <p:sp>
        <p:nvSpPr>
          <p:cNvPr id="10" name="Text 8"/>
          <p:cNvSpPr/>
          <p:nvPr/>
        </p:nvSpPr>
        <p:spPr>
          <a:xfrm>
            <a:off x="1270000" y="3943350"/>
            <a:ext cx="4395216" cy="241300"/>
          </a:xfrm>
          <a:prstGeom prst="rect">
            <a:avLst/>
          </a:prstGeom>
          <a:noFill/>
          <a:ln/>
        </p:spPr>
        <p:txBody>
          <a:bodyPr wrap="square" lIns="0" tIns="0" rIns="0" bIns="0" rtlCol="0" anchor="t">
            <a:normAutofit/>
          </a:bodyPr>
          <a:lstStyle/>
          <a:p>
            <a:pPr algn="l" indent="0" marL="0">
              <a:lnSpc>
                <a:spcPts val="1743"/>
              </a:lnSpc>
              <a:buNone/>
            </a:pPr>
            <a:r>
              <a:rPr lang="en-US" sz="1245" b="1" dirty="0">
                <a:solidFill>
                  <a:srgbClr val="F3EFE6"/>
                </a:solidFill>
                <a:latin typeface="Bricolage Grotesque" pitchFamily="34" charset="0"/>
                <a:ea typeface="Bricolage Grotesque" pitchFamily="34" charset="-122"/>
                <a:cs typeface="Bricolage Grotesque" pitchFamily="34" charset="-120"/>
              </a:rPr>
              <a:t>Our own code</a:t>
            </a:r>
            <a:endParaRPr lang="en-US" sz="1245" dirty="0"/>
          </a:p>
        </p:txBody>
      </p:sp>
      <p:sp>
        <p:nvSpPr>
          <p:cNvPr id="11" name="Text 9"/>
          <p:cNvSpPr/>
          <p:nvPr/>
        </p:nvSpPr>
        <p:spPr>
          <a:xfrm>
            <a:off x="1066800" y="4438650"/>
            <a:ext cx="481380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64D"/>
                </a:solidFill>
                <a:latin typeface="Atkinson Hyperlegible" pitchFamily="34" charset="0"/>
                <a:ea typeface="Atkinson Hyperlegible" pitchFamily="34" charset="-122"/>
                <a:cs typeface="Atkinson Hyperlegible" pitchFamily="34" charset="-120"/>
              </a:rPr>
              <a:t>Often, most of an app is code we didn't write</a:t>
            </a:r>
            <a:endParaRPr lang="en-US" sz="1200" dirty="0"/>
          </a:p>
        </p:txBody>
      </p:sp>
      <p:sp>
        <p:nvSpPr>
          <p:cNvPr id="12" name="Shape 10"/>
          <p:cNvSpPr/>
          <p:nvPr/>
        </p:nvSpPr>
        <p:spPr>
          <a:xfrm>
            <a:off x="6197600" y="1917700"/>
            <a:ext cx="5181600" cy="2984500"/>
          </a:xfrm>
          <a:prstGeom prst="roundRect">
            <a:avLst>
              <a:gd name="adj" fmla="val 5106"/>
            </a:avLst>
          </a:prstGeom>
          <a:solidFill>
            <a:srgbClr val="FBFAF7"/>
          </a:solidFill>
          <a:ln/>
        </p:spPr>
      </p:sp>
      <p:sp>
        <p:nvSpPr>
          <p:cNvPr id="13" name="Text 11"/>
          <p:cNvSpPr/>
          <p:nvPr/>
        </p:nvSpPr>
        <p:spPr>
          <a:xfrm>
            <a:off x="6451600" y="2171700"/>
            <a:ext cx="481380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F24"/>
                </a:solidFill>
                <a:latin typeface="Bricolage Grotesque" pitchFamily="34" charset="0"/>
                <a:ea typeface="Bricolage Grotesque" pitchFamily="34" charset="-122"/>
                <a:cs typeface="Bricolage Grotesque" pitchFamily="34" charset="-120"/>
              </a:rPr>
              <a:t>How it reaches customers</a:t>
            </a:r>
            <a:endParaRPr lang="en-US" sz="1800" dirty="0"/>
          </a:p>
        </p:txBody>
      </p:sp>
      <p:pic>
        <p:nvPicPr>
          <p:cNvPr id="14" name="Image 0" descr="Code">    </p:cNvPr>
          <p:cNvPicPr>
            <a:picLocks noChangeAspect="1"/>
          </p:cNvPicPr>
          <p:nvPr/>
        </p:nvPicPr>
        <p:blipFill>
          <a:blip r:embed="rId1"/>
          <a:srcRect l="0" r="0" t="0" b="0"/>
          <a:stretch/>
        </p:blipFill>
        <p:spPr>
          <a:xfrm>
            <a:off x="6451600" y="2597150"/>
            <a:ext cx="330200" cy="330200"/>
          </a:xfrm>
          <a:prstGeom prst="rect">
            <a:avLst/>
          </a:prstGeom>
        </p:spPr>
      </p:pic>
      <p:sp>
        <p:nvSpPr>
          <p:cNvPr id="15" name="Text 12"/>
          <p:cNvSpPr/>
          <p:nvPr/>
        </p:nvSpPr>
        <p:spPr>
          <a:xfrm>
            <a:off x="6934200" y="2644775"/>
            <a:ext cx="4316730" cy="26035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B1F24"/>
                </a:solidFill>
                <a:latin typeface="Atkinson Hyperlegible" pitchFamily="34" charset="0"/>
                <a:ea typeface="Atkinson Hyperlegible" pitchFamily="34" charset="-122"/>
                <a:cs typeface="Atkinson Hyperlegible" pitchFamily="34" charset="-120"/>
              </a:rPr>
              <a:t>Write</a:t>
            </a:r>
            <a:r>
              <a:rPr lang="en-US" sz="1400" dirty="0">
                <a:solidFill>
                  <a:srgbClr val="1B1F24"/>
                </a:solidFill>
                <a:latin typeface="Atkinson Hyperlegible" pitchFamily="34" charset="0"/>
                <a:ea typeface="Atkinson Hyperlegible" pitchFamily="34" charset="-122"/>
                <a:cs typeface="Atkinson Hyperlegible" pitchFamily="34" charset="-120"/>
              </a:rPr>
              <a:t> the code in an editor</a:t>
            </a:r>
            <a:endParaRPr lang="en-US" sz="1400" dirty="0"/>
          </a:p>
        </p:txBody>
      </p:sp>
      <p:pic>
        <p:nvPicPr>
          <p:cNvPr id="16" name="Image 1" descr="Database">    </p:cNvPr>
          <p:cNvPicPr>
            <a:picLocks noChangeAspect="1"/>
          </p:cNvPicPr>
          <p:nvPr/>
        </p:nvPicPr>
        <p:blipFill>
          <a:blip r:embed="rId2"/>
          <a:srcRect l="0" r="0" t="0" b="0"/>
          <a:stretch/>
        </p:blipFill>
        <p:spPr>
          <a:xfrm>
            <a:off x="6451600" y="3079750"/>
            <a:ext cx="330200" cy="330200"/>
          </a:xfrm>
          <a:prstGeom prst="rect">
            <a:avLst/>
          </a:prstGeom>
        </p:spPr>
      </p:pic>
      <p:sp>
        <p:nvSpPr>
          <p:cNvPr id="17" name="Text 13"/>
          <p:cNvSpPr/>
          <p:nvPr/>
        </p:nvSpPr>
        <p:spPr>
          <a:xfrm>
            <a:off x="6934200" y="3127375"/>
            <a:ext cx="4316730" cy="26035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B1F24"/>
                </a:solidFill>
                <a:latin typeface="Atkinson Hyperlegible" pitchFamily="34" charset="0"/>
                <a:ea typeface="Atkinson Hyperlegible" pitchFamily="34" charset="-122"/>
                <a:cs typeface="Atkinson Hyperlegible" pitchFamily="34" charset="-120"/>
              </a:rPr>
              <a:t>Store</a:t>
            </a:r>
            <a:r>
              <a:rPr lang="en-US" sz="1400" dirty="0">
                <a:solidFill>
                  <a:srgbClr val="1B1F24"/>
                </a:solidFill>
                <a:latin typeface="Atkinson Hyperlegible" pitchFamily="34" charset="0"/>
                <a:ea typeface="Atkinson Hyperlegible" pitchFamily="34" charset="-122"/>
                <a:cs typeface="Atkinson Hyperlegible" pitchFamily="34" charset="-120"/>
              </a:rPr>
              <a:t> it somewhere shared, like GitHub</a:t>
            </a:r>
            <a:endParaRPr lang="en-US" sz="1400" dirty="0"/>
          </a:p>
        </p:txBody>
      </p:sp>
      <p:pic>
        <p:nvPicPr>
          <p:cNvPr id="18" name="Image 2" descr="Tool">    </p:cNvPr>
          <p:cNvPicPr>
            <a:picLocks noChangeAspect="1"/>
          </p:cNvPicPr>
          <p:nvPr/>
        </p:nvPicPr>
        <p:blipFill>
          <a:blip r:embed="rId3"/>
          <a:srcRect l="0" r="0" t="0" b="0"/>
          <a:stretch/>
        </p:blipFill>
        <p:spPr>
          <a:xfrm>
            <a:off x="6451600" y="3632200"/>
            <a:ext cx="330200" cy="330200"/>
          </a:xfrm>
          <a:prstGeom prst="rect">
            <a:avLst/>
          </a:prstGeom>
        </p:spPr>
      </p:pic>
      <p:sp>
        <p:nvSpPr>
          <p:cNvPr id="19" name="Text 14"/>
          <p:cNvSpPr/>
          <p:nvPr/>
        </p:nvSpPr>
        <p:spPr>
          <a:xfrm>
            <a:off x="6934200" y="3562350"/>
            <a:ext cx="4316730" cy="49530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B1F24"/>
                </a:solidFill>
                <a:latin typeface="Atkinson Hyperlegible" pitchFamily="34" charset="0"/>
                <a:ea typeface="Atkinson Hyperlegible" pitchFamily="34" charset="-122"/>
                <a:cs typeface="Atkinson Hyperlegible" pitchFamily="34" charset="-120"/>
              </a:rPr>
              <a:t>Build</a:t>
            </a:r>
            <a:r>
              <a:rPr lang="en-US" sz="1400" dirty="0">
                <a:solidFill>
                  <a:srgbClr val="1B1F24"/>
                </a:solidFill>
                <a:latin typeface="Atkinson Hyperlegible" pitchFamily="34" charset="0"/>
                <a:ea typeface="Atkinson Hyperlegible" pitchFamily="34" charset="-122"/>
                <a:cs typeface="Atkinson Hyperlegible" pitchFamily="34" charset="-120"/>
              </a:rPr>
              <a:t> it with tools that download the packages and bundle everything up</a:t>
            </a:r>
            <a:endParaRPr lang="en-US" sz="1400" dirty="0"/>
          </a:p>
        </p:txBody>
      </p:sp>
      <p:pic>
        <p:nvPicPr>
          <p:cNvPr id="20" name="Image 3" descr="Cloud">    </p:cNvPr>
          <p:cNvPicPr>
            <a:picLocks noChangeAspect="1"/>
          </p:cNvPicPr>
          <p:nvPr/>
        </p:nvPicPr>
        <p:blipFill>
          <a:blip r:embed="rId4"/>
          <a:srcRect l="0" r="0" t="0" b="0"/>
          <a:stretch/>
        </p:blipFill>
        <p:spPr>
          <a:xfrm>
            <a:off x="6451600" y="4184650"/>
            <a:ext cx="330200" cy="330200"/>
          </a:xfrm>
          <a:prstGeom prst="rect">
            <a:avLst/>
          </a:prstGeom>
        </p:spPr>
      </p:pic>
      <p:sp>
        <p:nvSpPr>
          <p:cNvPr id="21" name="Text 15"/>
          <p:cNvSpPr/>
          <p:nvPr/>
        </p:nvSpPr>
        <p:spPr>
          <a:xfrm>
            <a:off x="6934200" y="4232275"/>
            <a:ext cx="4316730" cy="26035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B1F24"/>
                </a:solidFill>
                <a:latin typeface="Atkinson Hyperlegible" pitchFamily="34" charset="0"/>
                <a:ea typeface="Atkinson Hyperlegible" pitchFamily="34" charset="-122"/>
                <a:cs typeface="Atkinson Hyperlegible" pitchFamily="34" charset="-120"/>
              </a:rPr>
              <a:t>Deploy</a:t>
            </a:r>
            <a:r>
              <a:rPr lang="en-US" sz="1400" dirty="0">
                <a:solidFill>
                  <a:srgbClr val="1B1F24"/>
                </a:solidFill>
                <a:latin typeface="Atkinson Hyperlegible" pitchFamily="34" charset="0"/>
                <a:ea typeface="Atkinson Hyperlegible" pitchFamily="34" charset="-122"/>
                <a:cs typeface="Atkinson Hyperlegible" pitchFamily="34" charset="-120"/>
              </a:rPr>
              <a:t> it automatically to a cloud server</a:t>
            </a:r>
            <a:endParaRPr lang="en-US" sz="1400" dirty="0"/>
          </a:p>
        </p:txBody>
      </p:sp>
      <p:sp>
        <p:nvSpPr>
          <p:cNvPr id="22" name="Shape 16"/>
          <p:cNvSpPr/>
          <p:nvPr/>
        </p:nvSpPr>
        <p:spPr>
          <a:xfrm>
            <a:off x="812800" y="5156200"/>
            <a:ext cx="10566400" cy="889000"/>
          </a:xfrm>
          <a:prstGeom prst="roundRect">
            <a:avLst>
              <a:gd name="adj" fmla="val 12857"/>
            </a:avLst>
          </a:prstGeom>
          <a:solidFill>
            <a:srgbClr val="1B1F24"/>
          </a:solidFill>
          <a:ln/>
        </p:spPr>
      </p:sp>
      <p:pic>
        <p:nvPicPr>
          <p:cNvPr id="23" name="Image 4" descr="Trust">    </p:cNvPr>
          <p:cNvPicPr>
            <a:picLocks noChangeAspect="1"/>
          </p:cNvPicPr>
          <p:nvPr/>
        </p:nvPicPr>
        <p:blipFill>
          <a:blip r:embed="rId5"/>
          <a:srcRect l="0" r="0" t="0" b="0"/>
          <a:stretch/>
        </p:blipFill>
        <p:spPr>
          <a:xfrm>
            <a:off x="1041400" y="5422900"/>
            <a:ext cx="355600" cy="355600"/>
          </a:xfrm>
          <a:prstGeom prst="rect">
            <a:avLst/>
          </a:prstGeom>
        </p:spPr>
      </p:pic>
      <p:sp>
        <p:nvSpPr>
          <p:cNvPr id="24" name="Text 17"/>
          <p:cNvSpPr/>
          <p:nvPr/>
        </p:nvSpPr>
        <p:spPr>
          <a:xfrm>
            <a:off x="1574800" y="5334000"/>
            <a:ext cx="986307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Atkinson Hyperlegible" pitchFamily="34" charset="0"/>
                <a:ea typeface="Atkinson Hyperlegible" pitchFamily="34" charset="-122"/>
                <a:cs typeface="Atkinson Hyperlegible" pitchFamily="34" charset="-120"/>
              </a:rPr>
              <a:t>Every package and every tool is something we trust.</a:t>
            </a:r>
            <a:r>
              <a:rPr lang="en-US" sz="1500" dirty="0">
                <a:solidFill>
                  <a:srgbClr val="F3EFE6"/>
                </a:solidFill>
                <a:latin typeface="Atkinson Hyperlegible" pitchFamily="34" charset="0"/>
                <a:ea typeface="Atkinson Hyperlegible" pitchFamily="34" charset="-122"/>
                <a:cs typeface="Atkinson Hyperlegible" pitchFamily="34" charset="-120"/>
              </a:rPr>
              <a:t> If one of them is broken or tampered with, so is Crust Club.</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STEP 1 · 15 MINUTES</a:t>
            </a:r>
            <a:endParaRPr lang="en-US" sz="1400" dirty="0"/>
          </a:p>
        </p:txBody>
      </p:sp>
      <p:sp>
        <p:nvSpPr>
          <p:cNvPr id="3" name="Text 1"/>
          <p:cNvSpPr/>
          <p:nvPr>
            <p:ph type="title"/>
          </p:nvPr>
        </p:nvSpPr>
        <p:spPr>
          <a:xfrm>
            <a:off x="812800" y="11620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Make Crust Club as insecure as you possibly can</a:t>
            </a:r>
            <a:endParaRPr lang="en-US" sz="3600" dirty="0"/>
          </a:p>
        </p:txBody>
      </p:sp>
      <p:sp>
        <p:nvSpPr>
          <p:cNvPr id="4" name="Shape 2"/>
          <p:cNvSpPr/>
          <p:nvPr/>
        </p:nvSpPr>
        <p:spPr>
          <a:xfrm>
            <a:off x="812800" y="2470150"/>
            <a:ext cx="2527300" cy="1962150"/>
          </a:xfrm>
          <a:prstGeom prst="roundRect">
            <a:avLst>
              <a:gd name="adj" fmla="val 6472"/>
            </a:avLst>
          </a:prstGeom>
          <a:solidFill>
            <a:srgbClr val="1B1F24"/>
          </a:solidFill>
          <a:ln/>
        </p:spPr>
      </p:sp>
      <p:sp>
        <p:nvSpPr>
          <p:cNvPr id="5" name="Text 3"/>
          <p:cNvSpPr/>
          <p:nvPr/>
        </p:nvSpPr>
        <p:spPr>
          <a:xfrm>
            <a:off x="1041400" y="2698750"/>
            <a:ext cx="213220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82E"/>
                </a:solidFill>
                <a:latin typeface="Bricolage Grotesque" pitchFamily="34" charset="0"/>
                <a:ea typeface="Bricolage Grotesque" pitchFamily="34" charset="-122"/>
                <a:cs typeface="Bricolage Grotesque" pitchFamily="34" charset="-120"/>
              </a:rPr>
              <a:t>1</a:t>
            </a:r>
            <a:endParaRPr lang="en-US" sz="4800" dirty="0"/>
          </a:p>
        </p:txBody>
      </p:sp>
      <p:sp>
        <p:nvSpPr>
          <p:cNvPr id="6" name="Text 4"/>
          <p:cNvSpPr/>
          <p:nvPr/>
        </p:nvSpPr>
        <p:spPr>
          <a:xfrm>
            <a:off x="1041400" y="3384550"/>
            <a:ext cx="2132203"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Bricolage Grotesque" pitchFamily="34" charset="0"/>
                <a:ea typeface="Bricolage Grotesque" pitchFamily="34" charset="-122"/>
                <a:cs typeface="Bricolage Grotesque" pitchFamily="34" charset="-120"/>
              </a:rPr>
              <a:t>On your own</a:t>
            </a:r>
            <a:endParaRPr lang="en-US" sz="1800" dirty="0"/>
          </a:p>
        </p:txBody>
      </p:sp>
      <p:sp>
        <p:nvSpPr>
          <p:cNvPr id="7" name="Text 5"/>
          <p:cNvSpPr/>
          <p:nvPr/>
        </p:nvSpPr>
        <p:spPr>
          <a:xfrm>
            <a:off x="1041400" y="3733800"/>
            <a:ext cx="2132203" cy="49530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4C9"/>
                </a:solidFill>
                <a:latin typeface="Atkinson Hyperlegible" pitchFamily="34" charset="0"/>
                <a:ea typeface="Atkinson Hyperlegible" pitchFamily="34" charset="-122"/>
                <a:cs typeface="Atkinson Hyperlegible" pitchFamily="34" charset="-120"/>
              </a:rPr>
              <a:t>2 min. One terrible idea per sticky note.</a:t>
            </a:r>
            <a:endParaRPr lang="en-US" sz="1400" dirty="0"/>
          </a:p>
        </p:txBody>
      </p:sp>
      <p:sp>
        <p:nvSpPr>
          <p:cNvPr id="8" name="Shape 6"/>
          <p:cNvSpPr/>
          <p:nvPr/>
        </p:nvSpPr>
        <p:spPr>
          <a:xfrm>
            <a:off x="3492500" y="2470150"/>
            <a:ext cx="2527300" cy="1962150"/>
          </a:xfrm>
          <a:prstGeom prst="roundRect">
            <a:avLst>
              <a:gd name="adj" fmla="val 6472"/>
            </a:avLst>
          </a:prstGeom>
          <a:solidFill>
            <a:srgbClr val="1B1F24"/>
          </a:solidFill>
          <a:ln/>
        </p:spPr>
      </p:sp>
      <p:sp>
        <p:nvSpPr>
          <p:cNvPr id="9" name="Text 7"/>
          <p:cNvSpPr/>
          <p:nvPr/>
        </p:nvSpPr>
        <p:spPr>
          <a:xfrm>
            <a:off x="3721100" y="2698750"/>
            <a:ext cx="213220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82E"/>
                </a:solidFill>
                <a:latin typeface="Bricolage Grotesque" pitchFamily="34" charset="0"/>
                <a:ea typeface="Bricolage Grotesque" pitchFamily="34" charset="-122"/>
                <a:cs typeface="Bricolage Grotesque" pitchFamily="34" charset="-120"/>
              </a:rPr>
              <a:t>2</a:t>
            </a:r>
            <a:endParaRPr lang="en-US" sz="4800" dirty="0"/>
          </a:p>
        </p:txBody>
      </p:sp>
      <p:sp>
        <p:nvSpPr>
          <p:cNvPr id="10" name="Text 8"/>
          <p:cNvSpPr/>
          <p:nvPr/>
        </p:nvSpPr>
        <p:spPr>
          <a:xfrm>
            <a:off x="3721100" y="3384550"/>
            <a:ext cx="2132203"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Bricolage Grotesque" pitchFamily="34" charset="0"/>
                <a:ea typeface="Bricolage Grotesque" pitchFamily="34" charset="-122"/>
                <a:cs typeface="Bricolage Grotesque" pitchFamily="34" charset="-120"/>
              </a:rPr>
              <a:t>In pairs</a:t>
            </a:r>
            <a:endParaRPr lang="en-US" sz="1800" dirty="0"/>
          </a:p>
        </p:txBody>
      </p:sp>
      <p:sp>
        <p:nvSpPr>
          <p:cNvPr id="11" name="Text 9"/>
          <p:cNvSpPr/>
          <p:nvPr/>
        </p:nvSpPr>
        <p:spPr>
          <a:xfrm>
            <a:off x="3721100" y="3733800"/>
            <a:ext cx="2132203" cy="49530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4C9"/>
                </a:solidFill>
                <a:latin typeface="Atkinson Hyperlegible" pitchFamily="34" charset="0"/>
                <a:ea typeface="Atkinson Hyperlegible" pitchFamily="34" charset="-122"/>
                <a:cs typeface="Atkinson Hyperlegible" pitchFamily="34" charset="-120"/>
              </a:rPr>
              <a:t>3 min. Share, then make them even worse.</a:t>
            </a:r>
            <a:endParaRPr lang="en-US" sz="1400" dirty="0"/>
          </a:p>
        </p:txBody>
      </p:sp>
      <p:sp>
        <p:nvSpPr>
          <p:cNvPr id="12" name="Shape 10"/>
          <p:cNvSpPr/>
          <p:nvPr/>
        </p:nvSpPr>
        <p:spPr>
          <a:xfrm>
            <a:off x="6172200" y="2470150"/>
            <a:ext cx="2527300" cy="1962150"/>
          </a:xfrm>
          <a:prstGeom prst="roundRect">
            <a:avLst>
              <a:gd name="adj" fmla="val 6472"/>
            </a:avLst>
          </a:prstGeom>
          <a:solidFill>
            <a:srgbClr val="1B1F24"/>
          </a:solidFill>
          <a:ln/>
        </p:spPr>
      </p:sp>
      <p:sp>
        <p:nvSpPr>
          <p:cNvPr id="13" name="Text 11"/>
          <p:cNvSpPr/>
          <p:nvPr/>
        </p:nvSpPr>
        <p:spPr>
          <a:xfrm>
            <a:off x="6400800" y="2698750"/>
            <a:ext cx="213220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B82E"/>
                </a:solidFill>
                <a:latin typeface="Bricolage Grotesque" pitchFamily="34" charset="0"/>
                <a:ea typeface="Bricolage Grotesque" pitchFamily="34" charset="-122"/>
                <a:cs typeface="Bricolage Grotesque" pitchFamily="34" charset="-120"/>
              </a:rPr>
              <a:t>4</a:t>
            </a:r>
            <a:endParaRPr lang="en-US" sz="4800" dirty="0"/>
          </a:p>
        </p:txBody>
      </p:sp>
      <p:sp>
        <p:nvSpPr>
          <p:cNvPr id="14" name="Text 12"/>
          <p:cNvSpPr/>
          <p:nvPr/>
        </p:nvSpPr>
        <p:spPr>
          <a:xfrm>
            <a:off x="6400800" y="3384550"/>
            <a:ext cx="2132203"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Bricolage Grotesque" pitchFamily="34" charset="0"/>
                <a:ea typeface="Bricolage Grotesque" pitchFamily="34" charset="-122"/>
                <a:cs typeface="Bricolage Grotesque" pitchFamily="34" charset="-120"/>
              </a:rPr>
              <a:t>In fours</a:t>
            </a:r>
            <a:endParaRPr lang="en-US" sz="1800" dirty="0"/>
          </a:p>
        </p:txBody>
      </p:sp>
      <p:sp>
        <p:nvSpPr>
          <p:cNvPr id="15" name="Text 13"/>
          <p:cNvSpPr/>
          <p:nvPr/>
        </p:nvSpPr>
        <p:spPr>
          <a:xfrm>
            <a:off x="6400800" y="3733800"/>
            <a:ext cx="2132203" cy="49530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4C9"/>
                </a:solidFill>
                <a:latin typeface="Atkinson Hyperlegible" pitchFamily="34" charset="0"/>
                <a:ea typeface="Atkinson Hyperlegible" pitchFamily="34" charset="-122"/>
                <a:cs typeface="Atkinson Hyperlegible" pitchFamily="34" charset="-120"/>
              </a:rPr>
              <a:t>5 min. Pool everything, remove duplicates.</a:t>
            </a:r>
            <a:endParaRPr lang="en-US" sz="1400" dirty="0"/>
          </a:p>
        </p:txBody>
      </p:sp>
      <p:sp>
        <p:nvSpPr>
          <p:cNvPr id="16" name="Shape 14"/>
          <p:cNvSpPr/>
          <p:nvPr/>
        </p:nvSpPr>
        <p:spPr>
          <a:xfrm>
            <a:off x="8851900" y="2470150"/>
            <a:ext cx="2527300" cy="1962150"/>
          </a:xfrm>
          <a:prstGeom prst="roundRect">
            <a:avLst>
              <a:gd name="adj" fmla="val 6472"/>
            </a:avLst>
          </a:prstGeom>
          <a:solidFill>
            <a:srgbClr val="C2361F"/>
          </a:solidFill>
          <a:ln/>
        </p:spPr>
      </p:sp>
      <p:sp>
        <p:nvSpPr>
          <p:cNvPr id="17" name="Text 15"/>
          <p:cNvSpPr/>
          <p:nvPr/>
        </p:nvSpPr>
        <p:spPr>
          <a:xfrm>
            <a:off x="9080500" y="2698750"/>
            <a:ext cx="213220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BFAF7"/>
                </a:solidFill>
                <a:latin typeface="Bricolage Grotesque" pitchFamily="34" charset="0"/>
                <a:ea typeface="Bricolage Grotesque" pitchFamily="34" charset="-122"/>
                <a:cs typeface="Bricolage Grotesque" pitchFamily="34" charset="-120"/>
              </a:rPr>
              <a:t>All</a:t>
            </a:r>
            <a:endParaRPr lang="en-US" sz="4800" dirty="0"/>
          </a:p>
        </p:txBody>
      </p:sp>
      <p:sp>
        <p:nvSpPr>
          <p:cNvPr id="18" name="Text 16"/>
          <p:cNvSpPr/>
          <p:nvPr/>
        </p:nvSpPr>
        <p:spPr>
          <a:xfrm>
            <a:off x="9080500" y="3384550"/>
            <a:ext cx="2132203"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AF7"/>
                </a:solidFill>
                <a:latin typeface="Bricolage Grotesque" pitchFamily="34" charset="0"/>
                <a:ea typeface="Bricolage Grotesque" pitchFamily="34" charset="-122"/>
                <a:cs typeface="Bricolage Grotesque" pitchFamily="34" charset="-120"/>
              </a:rPr>
              <a:t>Whole room</a:t>
            </a:r>
            <a:endParaRPr lang="en-US" sz="1800" dirty="0"/>
          </a:p>
        </p:txBody>
      </p:sp>
      <p:sp>
        <p:nvSpPr>
          <p:cNvPr id="19" name="Text 17"/>
          <p:cNvSpPr/>
          <p:nvPr/>
        </p:nvSpPr>
        <p:spPr>
          <a:xfrm>
            <a:off x="9080500" y="3733800"/>
            <a:ext cx="2132203" cy="49530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BFAF7"/>
                </a:solidFill>
                <a:latin typeface="Atkinson Hyperlegible" pitchFamily="34" charset="0"/>
                <a:ea typeface="Atkinson Hyperlegible" pitchFamily="34" charset="-122"/>
                <a:cs typeface="Atkinson Hyperlegible" pitchFamily="34" charset="-120"/>
              </a:rPr>
              <a:t>5 min. Each table shares its single worst idea.</a:t>
            </a:r>
            <a:endParaRPr lang="en-US" sz="1400" dirty="0"/>
          </a:p>
        </p:txBody>
      </p:sp>
      <p:sp>
        <p:nvSpPr>
          <p:cNvPr id="20" name="Shape 18"/>
          <p:cNvSpPr/>
          <p:nvPr/>
        </p:nvSpPr>
        <p:spPr>
          <a:xfrm>
            <a:off x="812800" y="4737100"/>
            <a:ext cx="10566400" cy="889000"/>
          </a:xfrm>
          <a:prstGeom prst="roundRect">
            <a:avLst>
              <a:gd name="adj" fmla="val 12857"/>
            </a:avLst>
          </a:prstGeom>
          <a:solidFill>
            <a:srgbClr val="FDF1D6"/>
          </a:solidFill>
          <a:ln/>
        </p:spPr>
      </p:sp>
      <p:pic>
        <p:nvPicPr>
          <p:cNvPr id="21" name="Image 0" descr="Lightbulb">    </p:cNvPr>
          <p:cNvPicPr>
            <a:picLocks noChangeAspect="1"/>
          </p:cNvPicPr>
          <p:nvPr/>
        </p:nvPicPr>
        <p:blipFill>
          <a:blip r:embed="rId1"/>
          <a:srcRect l="0" r="0" t="0" b="0"/>
          <a:stretch/>
        </p:blipFill>
        <p:spPr>
          <a:xfrm>
            <a:off x="1041400" y="5003800"/>
            <a:ext cx="355600" cy="355600"/>
          </a:xfrm>
          <a:prstGeom prst="rect">
            <a:avLst/>
          </a:prstGeom>
        </p:spPr>
      </p:pic>
      <p:sp>
        <p:nvSpPr>
          <p:cNvPr id="22" name="Text 19"/>
          <p:cNvSpPr/>
          <p:nvPr/>
        </p:nvSpPr>
        <p:spPr>
          <a:xfrm>
            <a:off x="1574800" y="4914900"/>
            <a:ext cx="986307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F24"/>
                </a:solidFill>
                <a:latin typeface="Atkinson Hyperlegible" pitchFamily="34" charset="0"/>
                <a:ea typeface="Atkinson Hyperlegible" pitchFamily="34" charset="-122"/>
                <a:cs typeface="Atkinson Hyperlegible" pitchFamily="34" charset="-120"/>
              </a:rPr>
              <a:t>Stuck?</a:t>
            </a:r>
            <a:r>
              <a:rPr lang="en-US" sz="1500" dirty="0">
                <a:solidFill>
                  <a:srgbClr val="1B1F24"/>
                </a:solidFill>
                <a:latin typeface="Atkinson Hyperlegible" pitchFamily="34" charset="0"/>
                <a:ea typeface="Atkinson Hyperlegible" pitchFamily="34" charset="-122"/>
                <a:cs typeface="Atkinson Hyperlegible" pitchFamily="34" charset="-120"/>
              </a:rPr>
              <a:t> Go through the stages: plan, design, build, test, release, run. Then think about the packages, the tools, and the people.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STEP 2 · 12 MINUTES</a:t>
            </a:r>
            <a:endParaRPr lang="en-US" sz="1400" dirty="0"/>
          </a:p>
        </p:txBody>
      </p:sp>
      <p:sp>
        <p:nvSpPr>
          <p:cNvPr id="3" name="Text 1"/>
          <p:cNvSpPr/>
          <p:nvPr>
            <p:ph type="title"/>
          </p:nvPr>
        </p:nvSpPr>
        <p:spPr>
          <a:xfrm>
            <a:off x="812800" y="11620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Sort your ideas onto the OWASP cards</a:t>
            </a:r>
            <a:endParaRPr lang="en-US" sz="3600" dirty="0"/>
          </a:p>
        </p:txBody>
      </p:sp>
      <p:sp>
        <p:nvSpPr>
          <p:cNvPr id="4" name="Shape 2"/>
          <p:cNvSpPr/>
          <p:nvPr/>
        </p:nvSpPr>
        <p:spPr>
          <a:xfrm>
            <a:off x="812800" y="1943100"/>
            <a:ext cx="2011660" cy="1130300"/>
          </a:xfrm>
          <a:prstGeom prst="roundRect">
            <a:avLst>
              <a:gd name="adj" fmla="val 8989"/>
            </a:avLst>
          </a:prstGeom>
          <a:solidFill>
            <a:srgbClr val="FBFAF7"/>
          </a:solidFill>
          <a:ln/>
        </p:spPr>
      </p:sp>
      <p:sp>
        <p:nvSpPr>
          <p:cNvPr id="5" name="Text 3"/>
          <p:cNvSpPr/>
          <p:nvPr/>
        </p:nvSpPr>
        <p:spPr>
          <a:xfrm>
            <a:off x="965200" y="20955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A01</a:t>
            </a:r>
            <a:endParaRPr lang="en-US" sz="2000" dirty="0"/>
          </a:p>
        </p:txBody>
      </p:sp>
      <p:sp>
        <p:nvSpPr>
          <p:cNvPr id="6" name="Text 4"/>
          <p:cNvSpPr/>
          <p:nvPr/>
        </p:nvSpPr>
        <p:spPr>
          <a:xfrm>
            <a:off x="965200" y="25019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Broken Access Control</a:t>
            </a:r>
            <a:endParaRPr lang="en-US" sz="1300" dirty="0"/>
          </a:p>
        </p:txBody>
      </p:sp>
      <p:sp>
        <p:nvSpPr>
          <p:cNvPr id="7" name="Shape 5"/>
          <p:cNvSpPr/>
          <p:nvPr/>
        </p:nvSpPr>
        <p:spPr>
          <a:xfrm>
            <a:off x="2951460" y="1943100"/>
            <a:ext cx="2011660" cy="1130300"/>
          </a:xfrm>
          <a:prstGeom prst="roundRect">
            <a:avLst>
              <a:gd name="adj" fmla="val 8989"/>
            </a:avLst>
          </a:prstGeom>
          <a:solidFill>
            <a:srgbClr val="FBFAF7"/>
          </a:solidFill>
          <a:ln/>
        </p:spPr>
      </p:sp>
      <p:sp>
        <p:nvSpPr>
          <p:cNvPr id="8" name="Text 6"/>
          <p:cNvSpPr/>
          <p:nvPr/>
        </p:nvSpPr>
        <p:spPr>
          <a:xfrm>
            <a:off x="3103860" y="20955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A02</a:t>
            </a:r>
            <a:endParaRPr lang="en-US" sz="2000" dirty="0"/>
          </a:p>
        </p:txBody>
      </p:sp>
      <p:sp>
        <p:nvSpPr>
          <p:cNvPr id="9" name="Text 7"/>
          <p:cNvSpPr/>
          <p:nvPr/>
        </p:nvSpPr>
        <p:spPr>
          <a:xfrm>
            <a:off x="3103860" y="25019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Security Misconfiguration</a:t>
            </a:r>
            <a:endParaRPr lang="en-US" sz="1300" dirty="0"/>
          </a:p>
        </p:txBody>
      </p:sp>
      <p:sp>
        <p:nvSpPr>
          <p:cNvPr id="10" name="Shape 8"/>
          <p:cNvSpPr/>
          <p:nvPr/>
        </p:nvSpPr>
        <p:spPr>
          <a:xfrm>
            <a:off x="5090120" y="1943100"/>
            <a:ext cx="2011660" cy="1130300"/>
          </a:xfrm>
          <a:prstGeom prst="roundRect">
            <a:avLst>
              <a:gd name="adj" fmla="val 8989"/>
            </a:avLst>
          </a:prstGeom>
          <a:solidFill>
            <a:srgbClr val="FBFAF7"/>
          </a:solidFill>
          <a:ln/>
        </p:spPr>
      </p:sp>
      <p:sp>
        <p:nvSpPr>
          <p:cNvPr id="11" name="Text 9"/>
          <p:cNvSpPr/>
          <p:nvPr/>
        </p:nvSpPr>
        <p:spPr>
          <a:xfrm>
            <a:off x="5242520" y="20955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A03</a:t>
            </a:r>
            <a:endParaRPr lang="en-US" sz="2000" dirty="0"/>
          </a:p>
        </p:txBody>
      </p:sp>
      <p:sp>
        <p:nvSpPr>
          <p:cNvPr id="12" name="Text 10"/>
          <p:cNvSpPr/>
          <p:nvPr/>
        </p:nvSpPr>
        <p:spPr>
          <a:xfrm>
            <a:off x="5242520" y="25019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Software Supply Chain Failures</a:t>
            </a:r>
            <a:endParaRPr lang="en-US" sz="1300" dirty="0"/>
          </a:p>
        </p:txBody>
      </p:sp>
      <p:sp>
        <p:nvSpPr>
          <p:cNvPr id="13" name="Shape 11"/>
          <p:cNvSpPr/>
          <p:nvPr/>
        </p:nvSpPr>
        <p:spPr>
          <a:xfrm>
            <a:off x="7228780" y="1943100"/>
            <a:ext cx="2011660" cy="1130300"/>
          </a:xfrm>
          <a:prstGeom prst="roundRect">
            <a:avLst>
              <a:gd name="adj" fmla="val 8989"/>
            </a:avLst>
          </a:prstGeom>
          <a:solidFill>
            <a:srgbClr val="FBFAF7"/>
          </a:solidFill>
          <a:ln/>
        </p:spPr>
      </p:sp>
      <p:sp>
        <p:nvSpPr>
          <p:cNvPr id="14" name="Text 12"/>
          <p:cNvSpPr/>
          <p:nvPr/>
        </p:nvSpPr>
        <p:spPr>
          <a:xfrm>
            <a:off x="7381180" y="20955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A04</a:t>
            </a:r>
            <a:endParaRPr lang="en-US" sz="2000" dirty="0"/>
          </a:p>
        </p:txBody>
      </p:sp>
      <p:sp>
        <p:nvSpPr>
          <p:cNvPr id="15" name="Text 13"/>
          <p:cNvSpPr/>
          <p:nvPr/>
        </p:nvSpPr>
        <p:spPr>
          <a:xfrm>
            <a:off x="7381180" y="25019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Cryptographic Failures</a:t>
            </a:r>
            <a:endParaRPr lang="en-US" sz="1300" dirty="0"/>
          </a:p>
        </p:txBody>
      </p:sp>
      <p:sp>
        <p:nvSpPr>
          <p:cNvPr id="16" name="Shape 14"/>
          <p:cNvSpPr/>
          <p:nvPr/>
        </p:nvSpPr>
        <p:spPr>
          <a:xfrm>
            <a:off x="9367441" y="1943100"/>
            <a:ext cx="2011759" cy="1130300"/>
          </a:xfrm>
          <a:prstGeom prst="roundRect">
            <a:avLst>
              <a:gd name="adj" fmla="val 8989"/>
            </a:avLst>
          </a:prstGeom>
          <a:solidFill>
            <a:srgbClr val="FBFAF7"/>
          </a:solidFill>
          <a:ln/>
        </p:spPr>
      </p:sp>
      <p:sp>
        <p:nvSpPr>
          <p:cNvPr id="17" name="Text 15"/>
          <p:cNvSpPr/>
          <p:nvPr/>
        </p:nvSpPr>
        <p:spPr>
          <a:xfrm>
            <a:off x="9519841" y="2095500"/>
            <a:ext cx="17581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A05</a:t>
            </a:r>
            <a:endParaRPr lang="en-US" sz="2000" dirty="0"/>
          </a:p>
        </p:txBody>
      </p:sp>
      <p:sp>
        <p:nvSpPr>
          <p:cNvPr id="18" name="Text 16"/>
          <p:cNvSpPr/>
          <p:nvPr/>
        </p:nvSpPr>
        <p:spPr>
          <a:xfrm>
            <a:off x="9519841" y="2501900"/>
            <a:ext cx="1758168"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Injection</a:t>
            </a:r>
            <a:endParaRPr lang="en-US" sz="1300" dirty="0"/>
          </a:p>
        </p:txBody>
      </p:sp>
      <p:sp>
        <p:nvSpPr>
          <p:cNvPr id="19" name="Shape 17"/>
          <p:cNvSpPr/>
          <p:nvPr/>
        </p:nvSpPr>
        <p:spPr>
          <a:xfrm>
            <a:off x="812800" y="3200400"/>
            <a:ext cx="2011660" cy="1339850"/>
          </a:xfrm>
          <a:prstGeom prst="roundRect">
            <a:avLst>
              <a:gd name="adj" fmla="val 7583"/>
            </a:avLst>
          </a:prstGeom>
          <a:solidFill>
            <a:srgbClr val="FBFAF7"/>
          </a:solidFill>
          <a:ln/>
        </p:spPr>
      </p:sp>
      <p:sp>
        <p:nvSpPr>
          <p:cNvPr id="20" name="Text 18"/>
          <p:cNvSpPr/>
          <p:nvPr/>
        </p:nvSpPr>
        <p:spPr>
          <a:xfrm>
            <a:off x="965200" y="33528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A06</a:t>
            </a:r>
            <a:endParaRPr lang="en-US" sz="2000" dirty="0"/>
          </a:p>
        </p:txBody>
      </p:sp>
      <p:sp>
        <p:nvSpPr>
          <p:cNvPr id="21" name="Text 19"/>
          <p:cNvSpPr/>
          <p:nvPr/>
        </p:nvSpPr>
        <p:spPr>
          <a:xfrm>
            <a:off x="965200" y="3759200"/>
            <a:ext cx="1758066" cy="2349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Insecure Design</a:t>
            </a:r>
            <a:endParaRPr lang="en-US" sz="1300" dirty="0"/>
          </a:p>
        </p:txBody>
      </p:sp>
      <p:sp>
        <p:nvSpPr>
          <p:cNvPr id="22" name="Shape 20"/>
          <p:cNvSpPr/>
          <p:nvPr/>
        </p:nvSpPr>
        <p:spPr>
          <a:xfrm>
            <a:off x="2951460" y="3200400"/>
            <a:ext cx="2011660" cy="1339850"/>
          </a:xfrm>
          <a:prstGeom prst="roundRect">
            <a:avLst>
              <a:gd name="adj" fmla="val 7583"/>
            </a:avLst>
          </a:prstGeom>
          <a:solidFill>
            <a:srgbClr val="FBFAF7"/>
          </a:solidFill>
          <a:ln/>
        </p:spPr>
      </p:sp>
      <p:sp>
        <p:nvSpPr>
          <p:cNvPr id="23" name="Text 21"/>
          <p:cNvSpPr/>
          <p:nvPr/>
        </p:nvSpPr>
        <p:spPr>
          <a:xfrm>
            <a:off x="3103860" y="33528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A07</a:t>
            </a:r>
            <a:endParaRPr lang="en-US" sz="2000" dirty="0"/>
          </a:p>
        </p:txBody>
      </p:sp>
      <p:sp>
        <p:nvSpPr>
          <p:cNvPr id="24" name="Text 22"/>
          <p:cNvSpPr/>
          <p:nvPr/>
        </p:nvSpPr>
        <p:spPr>
          <a:xfrm>
            <a:off x="3103860" y="37592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Authentication Failures</a:t>
            </a:r>
            <a:endParaRPr lang="en-US" sz="1300" dirty="0"/>
          </a:p>
        </p:txBody>
      </p:sp>
      <p:sp>
        <p:nvSpPr>
          <p:cNvPr id="25" name="Shape 23"/>
          <p:cNvSpPr/>
          <p:nvPr/>
        </p:nvSpPr>
        <p:spPr>
          <a:xfrm>
            <a:off x="5090120" y="3200400"/>
            <a:ext cx="2011660" cy="1339850"/>
          </a:xfrm>
          <a:prstGeom prst="roundRect">
            <a:avLst>
              <a:gd name="adj" fmla="val 7583"/>
            </a:avLst>
          </a:prstGeom>
          <a:solidFill>
            <a:srgbClr val="FBFAF7"/>
          </a:solidFill>
          <a:ln/>
        </p:spPr>
      </p:sp>
      <p:sp>
        <p:nvSpPr>
          <p:cNvPr id="26" name="Text 24"/>
          <p:cNvSpPr/>
          <p:nvPr/>
        </p:nvSpPr>
        <p:spPr>
          <a:xfrm>
            <a:off x="5242520" y="33528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A08</a:t>
            </a:r>
            <a:endParaRPr lang="en-US" sz="2000" dirty="0"/>
          </a:p>
        </p:txBody>
      </p:sp>
      <p:sp>
        <p:nvSpPr>
          <p:cNvPr id="27" name="Text 25"/>
          <p:cNvSpPr/>
          <p:nvPr/>
        </p:nvSpPr>
        <p:spPr>
          <a:xfrm>
            <a:off x="5242520" y="37592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Software or Data Integrity Failures</a:t>
            </a:r>
            <a:endParaRPr lang="en-US" sz="1300" dirty="0"/>
          </a:p>
        </p:txBody>
      </p:sp>
      <p:sp>
        <p:nvSpPr>
          <p:cNvPr id="28" name="Shape 26"/>
          <p:cNvSpPr/>
          <p:nvPr/>
        </p:nvSpPr>
        <p:spPr>
          <a:xfrm>
            <a:off x="7228780" y="3200400"/>
            <a:ext cx="2011660" cy="1339850"/>
          </a:xfrm>
          <a:prstGeom prst="roundRect">
            <a:avLst>
              <a:gd name="adj" fmla="val 7583"/>
            </a:avLst>
          </a:prstGeom>
          <a:solidFill>
            <a:srgbClr val="FBFAF7"/>
          </a:solidFill>
          <a:ln/>
        </p:spPr>
      </p:sp>
      <p:sp>
        <p:nvSpPr>
          <p:cNvPr id="29" name="Text 27"/>
          <p:cNvSpPr/>
          <p:nvPr/>
        </p:nvSpPr>
        <p:spPr>
          <a:xfrm>
            <a:off x="7381180" y="3352800"/>
            <a:ext cx="17580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A09</a:t>
            </a:r>
            <a:endParaRPr lang="en-US" sz="2000" dirty="0"/>
          </a:p>
        </p:txBody>
      </p:sp>
      <p:sp>
        <p:nvSpPr>
          <p:cNvPr id="30" name="Text 28"/>
          <p:cNvSpPr/>
          <p:nvPr/>
        </p:nvSpPr>
        <p:spPr>
          <a:xfrm>
            <a:off x="7381180" y="3759200"/>
            <a:ext cx="1758066" cy="44450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Security Logging and Alerting Failures</a:t>
            </a:r>
            <a:endParaRPr lang="en-US" sz="1300" dirty="0"/>
          </a:p>
        </p:txBody>
      </p:sp>
      <p:sp>
        <p:nvSpPr>
          <p:cNvPr id="31" name="Shape 29"/>
          <p:cNvSpPr/>
          <p:nvPr/>
        </p:nvSpPr>
        <p:spPr>
          <a:xfrm>
            <a:off x="9367441" y="3200400"/>
            <a:ext cx="2011759" cy="1339850"/>
          </a:xfrm>
          <a:prstGeom prst="roundRect">
            <a:avLst>
              <a:gd name="adj" fmla="val 7583"/>
            </a:avLst>
          </a:prstGeom>
          <a:solidFill>
            <a:srgbClr val="FBFAF7"/>
          </a:solidFill>
          <a:ln/>
        </p:spPr>
      </p:sp>
      <p:sp>
        <p:nvSpPr>
          <p:cNvPr id="32" name="Text 30"/>
          <p:cNvSpPr/>
          <p:nvPr/>
        </p:nvSpPr>
        <p:spPr>
          <a:xfrm>
            <a:off x="9519841" y="3352800"/>
            <a:ext cx="17581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361F"/>
                </a:solidFill>
                <a:latin typeface="Bricolage Grotesque" pitchFamily="34" charset="0"/>
                <a:ea typeface="Bricolage Grotesque" pitchFamily="34" charset="-122"/>
                <a:cs typeface="Bricolage Grotesque" pitchFamily="34" charset="-120"/>
              </a:rPr>
              <a:t>A10</a:t>
            </a:r>
            <a:endParaRPr lang="en-US" sz="2000" dirty="0"/>
          </a:p>
        </p:txBody>
      </p:sp>
      <p:sp>
        <p:nvSpPr>
          <p:cNvPr id="33" name="Text 31"/>
          <p:cNvSpPr/>
          <p:nvPr/>
        </p:nvSpPr>
        <p:spPr>
          <a:xfrm>
            <a:off x="9519841" y="3759200"/>
            <a:ext cx="1758168" cy="65405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B1F24"/>
                </a:solidFill>
                <a:latin typeface="Atkinson Hyperlegible" pitchFamily="34" charset="0"/>
                <a:ea typeface="Atkinson Hyperlegible" pitchFamily="34" charset="-122"/>
                <a:cs typeface="Atkinson Hyperlegible" pitchFamily="34" charset="-120"/>
              </a:rPr>
              <a:t>Mishandling of Exceptional Conditions</a:t>
            </a:r>
            <a:endParaRPr lang="en-US" sz="1300" dirty="0"/>
          </a:p>
        </p:txBody>
      </p:sp>
      <p:sp>
        <p:nvSpPr>
          <p:cNvPr id="34" name="Text 32"/>
          <p:cNvSpPr/>
          <p:nvPr/>
        </p:nvSpPr>
        <p:spPr>
          <a:xfrm>
            <a:off x="812800" y="48196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148"/>
                </a:solidFill>
                <a:latin typeface="Atkinson Hyperlegible" pitchFamily="34" charset="0"/>
                <a:ea typeface="Atkinson Hyperlegible" pitchFamily="34" charset="-122"/>
                <a:cs typeface="Atkinson Hyperlegible" pitchFamily="34" charset="-120"/>
              </a:rPr>
              <a:t>No perfect answers. Fits two cards? Pick the closest. Can't decide? Use the </a:t>
            </a:r>
            <a:r>
              <a:rPr lang="en-US" sz="1500" b="1" dirty="0">
                <a:solidFill>
                  <a:srgbClr val="3D4148"/>
                </a:solidFill>
                <a:latin typeface="Atkinson Hyperlegible" pitchFamily="34" charset="0"/>
                <a:ea typeface="Atkinson Hyperlegible" pitchFamily="34" charset="-122"/>
                <a:cs typeface="Atkinson Hyperlegible" pitchFamily="34" charset="-120"/>
              </a:rPr>
              <a:t>Not sure?</a:t>
            </a:r>
            <a:r>
              <a:rPr lang="en-US" sz="1500" dirty="0">
                <a:solidFill>
                  <a:srgbClr val="3D4148"/>
                </a:solidFill>
                <a:latin typeface="Atkinson Hyperlegible" pitchFamily="34" charset="0"/>
                <a:ea typeface="Atkinson Hyperlegible" pitchFamily="34" charset="-122"/>
                <a:cs typeface="Atkinson Hyperlegible" pitchFamily="34" charset="-120"/>
              </a:rPr>
              <a:t> card.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2361F"/>
                </a:solidFill>
                <a:latin typeface="Atkinson Hyperlegible" pitchFamily="34" charset="0"/>
                <a:ea typeface="Atkinson Hyperlegible" pitchFamily="34" charset="-122"/>
                <a:cs typeface="Atkinson Hyperlegible" pitchFamily="34" charset="-120"/>
              </a:rPr>
              <a:t>STEPS 3 AND 4 · 18 MINUTES</a:t>
            </a:r>
            <a:endParaRPr lang="en-US" sz="1400" dirty="0"/>
          </a:p>
        </p:txBody>
      </p:sp>
      <p:sp>
        <p:nvSpPr>
          <p:cNvPr id="3" name="Text 1"/>
          <p:cNvSpPr/>
          <p:nvPr>
            <p:ph type="title"/>
          </p:nvPr>
        </p:nvSpPr>
        <p:spPr>
          <a:xfrm>
            <a:off x="812800" y="11620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F24"/>
                </a:solidFill>
                <a:latin typeface="Bricolage Grotesque" pitchFamily="34" charset="0"/>
                <a:ea typeface="Bricolage Grotesque" pitchFamily="34" charset="-122"/>
                <a:cs typeface="Bricolage Grotesque" pitchFamily="34" charset="-120"/>
              </a:rPr>
              <a:t>Be honest, then fix it</a:t>
            </a:r>
            <a:endParaRPr lang="en-US" sz="3600" dirty="0"/>
          </a:p>
        </p:txBody>
      </p:sp>
      <p:sp>
        <p:nvSpPr>
          <p:cNvPr id="4" name="Shape 2"/>
          <p:cNvSpPr/>
          <p:nvPr/>
        </p:nvSpPr>
        <p:spPr>
          <a:xfrm>
            <a:off x="812800" y="1968500"/>
            <a:ext cx="5181600" cy="4076700"/>
          </a:xfrm>
          <a:prstGeom prst="roundRect">
            <a:avLst>
              <a:gd name="adj" fmla="val 3738"/>
            </a:avLst>
          </a:prstGeom>
          <a:solidFill>
            <a:srgbClr val="F3EFE6"/>
          </a:solidFill>
          <a:ln/>
        </p:spPr>
      </p:sp>
      <p:sp>
        <p:nvSpPr>
          <p:cNvPr id="5" name="Text 3"/>
          <p:cNvSpPr/>
          <p:nvPr/>
        </p:nvSpPr>
        <p:spPr>
          <a:xfrm>
            <a:off x="1117600" y="2273300"/>
            <a:ext cx="470916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361F"/>
                </a:solidFill>
                <a:latin typeface="Bricolage Grotesque" pitchFamily="34" charset="0"/>
                <a:ea typeface="Bricolage Grotesque" pitchFamily="34" charset="-122"/>
                <a:cs typeface="Bricolage Grotesque" pitchFamily="34" charset="-120"/>
              </a:rPr>
              <a:t>3 · BE HONEST</a:t>
            </a:r>
            <a:endParaRPr lang="en-US" sz="1600" dirty="0"/>
          </a:p>
        </p:txBody>
      </p:sp>
      <p:sp>
        <p:nvSpPr>
          <p:cNvPr id="6" name="Text 4"/>
          <p:cNvSpPr/>
          <p:nvPr/>
        </p:nvSpPr>
        <p:spPr>
          <a:xfrm>
            <a:off x="1117600" y="2705100"/>
            <a:ext cx="4709160" cy="72390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B1F24"/>
                </a:solidFill>
                <a:latin typeface="Bricolage Grotesque" pitchFamily="34" charset="0"/>
                <a:ea typeface="Bricolage Grotesque" pitchFamily="34" charset="-122"/>
                <a:cs typeface="Bricolage Grotesque" pitchFamily="34" charset="-120"/>
              </a:rPr>
              <a:t>Which of these could someone do by accident?</a:t>
            </a:r>
            <a:endParaRPr lang="en-US" sz="2400" dirty="0"/>
          </a:p>
        </p:txBody>
      </p:sp>
      <p:sp>
        <p:nvSpPr>
          <p:cNvPr id="7" name="Text 5"/>
          <p:cNvSpPr/>
          <p:nvPr/>
        </p:nvSpPr>
        <p:spPr>
          <a:xfrm>
            <a:off x="1117600" y="3556000"/>
            <a:ext cx="4709160" cy="8445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148"/>
                </a:solidFill>
                <a:latin typeface="Atkinson Hyperlegible" pitchFamily="34" charset="0"/>
                <a:ea typeface="Atkinson Hyperlegible" pitchFamily="34" charset="-122"/>
                <a:cs typeface="Atkinson Hyperlegible" pitchFamily="34" charset="-120"/>
              </a:rPr>
              <a:t>Put a dot on every sticky note that could happen without anyone meaning to. Which ones might you do in your first few months?</a:t>
            </a:r>
            <a:endParaRPr lang="en-US" sz="1500" dirty="0"/>
          </a:p>
        </p:txBody>
      </p:sp>
      <p:sp>
        <p:nvSpPr>
          <p:cNvPr id="8" name="Shape 6"/>
          <p:cNvSpPr/>
          <p:nvPr/>
        </p:nvSpPr>
        <p:spPr>
          <a:xfrm>
            <a:off x="6197600" y="1968500"/>
            <a:ext cx="5181600" cy="4076700"/>
          </a:xfrm>
          <a:prstGeom prst="roundRect">
            <a:avLst>
              <a:gd name="adj" fmla="val 3738"/>
            </a:avLst>
          </a:prstGeom>
          <a:solidFill>
            <a:srgbClr val="1B1F24"/>
          </a:solidFill>
          <a:ln/>
        </p:spPr>
      </p:sp>
      <p:sp>
        <p:nvSpPr>
          <p:cNvPr id="9" name="Text 7"/>
          <p:cNvSpPr/>
          <p:nvPr/>
        </p:nvSpPr>
        <p:spPr>
          <a:xfrm>
            <a:off x="6502400" y="2273300"/>
            <a:ext cx="470916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B82E"/>
                </a:solidFill>
                <a:latin typeface="Bricolage Grotesque" pitchFamily="34" charset="0"/>
                <a:ea typeface="Bricolage Grotesque" pitchFamily="34" charset="-122"/>
                <a:cs typeface="Bricolage Grotesque" pitchFamily="34" charset="-120"/>
              </a:rPr>
              <a:t>4 · FIX IT</a:t>
            </a:r>
            <a:endParaRPr lang="en-US" sz="1600" dirty="0"/>
          </a:p>
        </p:txBody>
      </p:sp>
      <p:sp>
        <p:nvSpPr>
          <p:cNvPr id="10" name="Text 8"/>
          <p:cNvSpPr/>
          <p:nvPr/>
        </p:nvSpPr>
        <p:spPr>
          <a:xfrm>
            <a:off x="6502400" y="2705100"/>
            <a:ext cx="4709160" cy="72390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3EFE6"/>
                </a:solidFill>
                <a:latin typeface="Bricolage Grotesque" pitchFamily="34" charset="0"/>
                <a:ea typeface="Bricolage Grotesque" pitchFamily="34" charset="-122"/>
                <a:cs typeface="Bricolage Grotesque" pitchFamily="34" charset="-120"/>
              </a:rPr>
              <a:t>Turn your top three into simple rules</a:t>
            </a:r>
            <a:endParaRPr lang="en-US" sz="2400" dirty="0"/>
          </a:p>
        </p:txBody>
      </p:sp>
      <p:sp>
        <p:nvSpPr>
          <p:cNvPr id="11" name="Text 9"/>
          <p:cNvSpPr/>
          <p:nvPr/>
        </p:nvSpPr>
        <p:spPr>
          <a:xfrm>
            <a:off x="6502400" y="3556000"/>
            <a:ext cx="4709160" cy="5715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9D4C9"/>
                </a:solidFill>
                <a:latin typeface="Atkinson Hyperlegible" pitchFamily="34" charset="0"/>
                <a:ea typeface="Atkinson Hyperlegible" pitchFamily="34" charset="-122"/>
                <a:cs typeface="Atkinson Hyperlegible" pitchFamily="34" charset="-120"/>
              </a:rPr>
              <a:t>"The admin password is pizza" becomes "Use strong, unique passwords and a second login step for staff."</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2361F"/>
        </a:solidFill>
      </p:bgPr>
    </p:bg>
    <p:spTree>
      <p:nvGrpSpPr>
        <p:cNvPr id="1" name=""/>
        <p:cNvGrpSpPr/>
        <p:nvPr/>
      </p:nvGrpSpPr>
      <p:grpSpPr>
        <a:xfrm>
          <a:off x="0" y="0"/>
          <a:ext cx="0" cy="0"/>
          <a:chOff x="0" y="0"/>
          <a:chExt cx="0" cy="0"/>
        </a:xfrm>
      </p:grpSpPr>
      <p:sp>
        <p:nvSpPr>
          <p:cNvPr id="2" name="Text 0"/>
          <p:cNvSpPr/>
          <p:nvPr/>
        </p:nvSpPr>
        <p:spPr>
          <a:xfrm>
            <a:off x="812800" y="2082800"/>
            <a:ext cx="10883392" cy="30480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DF1D6"/>
                </a:solidFill>
                <a:latin typeface="Atkinson Hyperlegible" pitchFamily="34" charset="0"/>
                <a:ea typeface="Atkinson Hyperlegible" pitchFamily="34" charset="-122"/>
                <a:cs typeface="Atkinson Hyperlegible" pitchFamily="34" charset="-120"/>
              </a:rPr>
              <a:t>BEFORE YOU GO</a:t>
            </a:r>
            <a:endParaRPr lang="en-US" sz="1600" dirty="0"/>
          </a:p>
        </p:txBody>
      </p:sp>
      <p:sp>
        <p:nvSpPr>
          <p:cNvPr id="3" name="Text 1"/>
          <p:cNvSpPr/>
          <p:nvPr>
            <p:ph type="title"/>
          </p:nvPr>
        </p:nvSpPr>
        <p:spPr>
          <a:xfrm>
            <a:off x="812800" y="2667000"/>
            <a:ext cx="10883392" cy="151130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BFAF7"/>
                </a:solidFill>
                <a:latin typeface="Bricolage Grotesque" pitchFamily="34" charset="0"/>
                <a:ea typeface="Bricolage Grotesque" pitchFamily="34" charset="-122"/>
                <a:cs typeface="Bricolage Grotesque" pitchFamily="34" charset="-120"/>
              </a:rPr>
              <a:t>What's one thing you'll look out for in your own code?</a:t>
            </a:r>
            <a:endParaRPr lang="en-US" sz="5600" dirty="0"/>
          </a:p>
        </p:txBody>
      </p:sp>
      <p:sp>
        <p:nvSpPr>
          <p:cNvPr id="4" name="Text 2"/>
          <p:cNvSpPr/>
          <p:nvPr/>
        </p:nvSpPr>
        <p:spPr>
          <a:xfrm>
            <a:off x="812800" y="4457700"/>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DF1D6"/>
                </a:solidFill>
                <a:latin typeface="Atkinson Hyperlegible" pitchFamily="34" charset="0"/>
                <a:ea typeface="Atkinson Hyperlegible" pitchFamily="34" charset="-122"/>
                <a:cs typeface="Atkinson Hyperlegible" pitchFamily="34" charset="-120"/>
              </a:rPr>
              <a:t>Find out more at </a:t>
            </a:r>
            <a:r>
              <a:rPr lang="en-US" sz="1800" u="sng" dirty="0">
                <a:solidFill>
                  <a:srgbClr val="FDF1D6"/>
                </a:solidFill>
                <a:latin typeface="Atkinson Hyperlegible" pitchFamily="34" charset="0"/>
                <a:ea typeface="Atkinson Hyperlegible" pitchFamily="34" charset="-122"/>
                <a:cs typeface="Atkinson Hyperlegible" pitchFamily="34" charset="-120"/>
                <a:hlinkClick r:id="rId1" invalidUrl="" action="" tgtFrame="" tooltip="" history="1" highlightClick="0" endSnd="0">
                  <a:extLst>
                    <a:ext uri="{A12FA001-AC4F-418D-AE19-62706E023703}">
                      <ahyp:hlinkClr xmlns:ahyp="http://schemas.microsoft.com/office/drawing/2018/hyperlinkcolor" val="tx"/>
                    </a:ext>
                  </a:extLst>
                </a:hlinkClick>
              </a:rPr>
              <a:t>owasp.org/Top10/2025</a:t>
            </a:r>
            <a:endParaRPr lang="en-US" sz="1800" dirty="0"/>
          </a:p>
        </p:txBody>
      </p:sp>
    </p:spTree>
  </p:cSld>
  <p:clrMapOvr>
    <a:masterClrMapping/>
  </p:clrMapOvr>
</p:sld>
</file>

<file path=ppt/theme/theme1.xml><?xml version="1.0" encoding="utf-8"?>
<a:theme xmlns:a="http://schemas.openxmlformats.org/drawingml/2006/main" name="Break It to Make It">
  <a:themeElements>
    <a:clrScheme name="Break It to Make It">
      <a:dk1>
        <a:srgbClr val="1B1F24"/>
      </a:dk1>
      <a:lt1>
        <a:srgbClr val="FBFAF7"/>
      </a:lt1>
      <a:dk2>
        <a:srgbClr val="535659"/>
      </a:dk2>
      <a:lt2>
        <a:srgbClr val="E5E4E2"/>
      </a:lt2>
      <a:accent1>
        <a:srgbClr val="C2361F"/>
      </a:accent1>
      <a:accent2>
        <a:srgbClr val="F5B82E"/>
      </a:accent2>
      <a:accent3>
        <a:srgbClr val="FDF1D6"/>
      </a:accent3>
      <a:accent4>
        <a:srgbClr val="3D4148"/>
      </a:accent4>
      <a:accent5>
        <a:srgbClr val="D9D4C9"/>
      </a:accent5>
      <a:accent6>
        <a:srgbClr val="6B655B"/>
      </a:accent6>
      <a:hlink>
        <a:srgbClr val="0563C1"/>
      </a:hlink>
      <a:folHlink>
        <a:srgbClr val="954F72"/>
      </a:folHlink>
    </a:clrScheme>
    <a:fontScheme name="Break It to Make It">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tkinson Hyperlegi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It to Make It</dc:title>
  <dc:subject/>
  <dc:creator/>
  <cp:lastModifiedBy/>
  <cp:revision>1</cp:revision>
  <dcterms:created xsi:type="dcterms:W3CDTF">2026-10-08T07:25:00Z</dcterms:created>
  <dcterms:modified xsi:type="dcterms:W3CDTF">2026-10-08T07:25:00Z</dcterms:modified>
</cp:coreProperties>
</file>